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Big Shoulders Display" charset="1" panose="00000000000000000000"/>
      <p:regular r:id="rId17"/>
    </p:embeddedFont>
    <p:embeddedFont>
      <p:font typeface="Space Mono Bold" charset="1" panose="02000809030000020004"/>
      <p:regular r:id="rId18"/>
    </p:embeddedFont>
    <p:embeddedFont>
      <p:font typeface="Space Mono" charset="1" panose="02000509040000020004"/>
      <p:regular r:id="rId19"/>
    </p:embeddedFont>
    <p:embeddedFont>
      <p:font typeface="Canva Sans" charset="1" panose="020B0503030501040103"/>
      <p:regular r:id="rId20"/>
    </p:embeddedFont>
    <p:embeddedFont>
      <p:font typeface="Canva Sans Bold" charset="1" panose="020B08030305010401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289407" y="6793585"/>
            <a:ext cx="4827911" cy="0"/>
          </a:xfrm>
          <a:prstGeom prst="line">
            <a:avLst/>
          </a:prstGeom>
          <a:ln cap="flat" w="9525">
            <a:solidFill>
              <a:srgbClr val="7CAAD8"/>
            </a:solidFill>
            <a:prstDash val="solid"/>
            <a:headEnd type="none" len="sm" w="sm"/>
            <a:tailEnd type="none" len="sm" w="sm"/>
          </a:ln>
        </p:spPr>
      </p:sp>
      <p:grpSp>
        <p:nvGrpSpPr>
          <p:cNvPr name="Group 3" id="3"/>
          <p:cNvGrpSpPr/>
          <p:nvPr/>
        </p:nvGrpSpPr>
        <p:grpSpPr>
          <a:xfrm rot="0">
            <a:off x="6425357" y="5039823"/>
            <a:ext cx="5437287" cy="3507523"/>
            <a:chOff x="0" y="0"/>
            <a:chExt cx="1317594" cy="849963"/>
          </a:xfrm>
        </p:grpSpPr>
        <p:sp>
          <p:nvSpPr>
            <p:cNvPr name="Freeform 4" id="4"/>
            <p:cNvSpPr/>
            <p:nvPr/>
          </p:nvSpPr>
          <p:spPr>
            <a:xfrm flipH="false" flipV="false" rot="0">
              <a:off x="0" y="0"/>
              <a:ext cx="1317594" cy="849963"/>
            </a:xfrm>
            <a:custGeom>
              <a:avLst/>
              <a:gdLst/>
              <a:ahLst/>
              <a:cxnLst/>
              <a:rect r="r" b="b" t="t" l="l"/>
              <a:pathLst>
                <a:path h="849963" w="1317594">
                  <a:moveTo>
                    <a:pt x="28477" y="0"/>
                  </a:moveTo>
                  <a:lnTo>
                    <a:pt x="1289117" y="0"/>
                  </a:lnTo>
                  <a:cubicBezTo>
                    <a:pt x="1304844" y="0"/>
                    <a:pt x="1317594" y="12750"/>
                    <a:pt x="1317594" y="28477"/>
                  </a:cubicBezTo>
                  <a:lnTo>
                    <a:pt x="1317594" y="821486"/>
                  </a:lnTo>
                  <a:cubicBezTo>
                    <a:pt x="1317594" y="837213"/>
                    <a:pt x="1304844" y="849963"/>
                    <a:pt x="1289117" y="849963"/>
                  </a:cubicBezTo>
                  <a:lnTo>
                    <a:pt x="28477" y="849963"/>
                  </a:lnTo>
                  <a:cubicBezTo>
                    <a:pt x="12750" y="849963"/>
                    <a:pt x="0" y="837213"/>
                    <a:pt x="0" y="821486"/>
                  </a:cubicBezTo>
                  <a:lnTo>
                    <a:pt x="0" y="28477"/>
                  </a:lnTo>
                  <a:cubicBezTo>
                    <a:pt x="0" y="12750"/>
                    <a:pt x="12750" y="0"/>
                    <a:pt x="28477" y="0"/>
                  </a:cubicBezTo>
                  <a:close/>
                </a:path>
              </a:pathLst>
            </a:custGeom>
            <a:blipFill>
              <a:blip r:embed="rId2"/>
              <a:stretch>
                <a:fillRect l="-1410" t="0" r="-10375" b="-15630"/>
              </a:stretch>
            </a:blipFill>
          </p:spPr>
        </p:sp>
      </p:grpSp>
      <p:sp>
        <p:nvSpPr>
          <p:cNvPr name="Freeform 5" id="5"/>
          <p:cNvSpPr/>
          <p:nvPr/>
        </p:nvSpPr>
        <p:spPr>
          <a:xfrm flipH="false" flipV="false" rot="5400000">
            <a:off x="11924833" y="3009448"/>
            <a:ext cx="413186" cy="975599"/>
          </a:xfrm>
          <a:custGeom>
            <a:avLst/>
            <a:gdLst/>
            <a:ahLst/>
            <a:cxnLst/>
            <a:rect r="r" b="b" t="t" l="l"/>
            <a:pathLst>
              <a:path h="975599" w="413186">
                <a:moveTo>
                  <a:pt x="0" y="0"/>
                </a:moveTo>
                <a:lnTo>
                  <a:pt x="413186" y="0"/>
                </a:lnTo>
                <a:lnTo>
                  <a:pt x="413186" y="975599"/>
                </a:lnTo>
                <a:lnTo>
                  <a:pt x="0" y="975599"/>
                </a:lnTo>
                <a:lnTo>
                  <a:pt x="0" y="0"/>
                </a:lnTo>
                <a:close/>
              </a:path>
            </a:pathLst>
          </a:custGeom>
          <a:blipFill>
            <a:blip r:embed="rId3">
              <a:extLst>
                <a:ext uri="{96DAC541-7B7A-43D3-8B79-37D633B846F1}">
                  <asvg:svgBlip xmlns:asvg="http://schemas.microsoft.com/office/drawing/2016/SVG/main" r:embed="rId4"/>
                </a:ext>
              </a:extLst>
            </a:blip>
            <a:stretch>
              <a:fillRect l="0" t="0" r="0" b="-39482"/>
            </a:stretch>
          </a:blipFill>
        </p:spPr>
      </p:sp>
      <p:grpSp>
        <p:nvGrpSpPr>
          <p:cNvPr name="Group 6" id="6"/>
          <p:cNvGrpSpPr/>
          <p:nvPr/>
        </p:nvGrpSpPr>
        <p:grpSpPr>
          <a:xfrm rot="0">
            <a:off x="9025918" y="1028700"/>
            <a:ext cx="236164" cy="231441"/>
            <a:chOff x="0" y="0"/>
            <a:chExt cx="635000" cy="622300"/>
          </a:xfrm>
        </p:grpSpPr>
        <p:sp>
          <p:nvSpPr>
            <p:cNvPr name="Freeform 7" id="7"/>
            <p:cNvSpPr/>
            <p:nvPr/>
          </p:nvSpPr>
          <p:spPr>
            <a:xfrm flipH="false" flipV="false" rot="0">
              <a:off x="0" y="0"/>
              <a:ext cx="635000" cy="622300"/>
            </a:xfrm>
            <a:custGeom>
              <a:avLst/>
              <a:gdLst/>
              <a:ahLst/>
              <a:cxnLst/>
              <a:rect r="r" b="b" t="t" l="l"/>
              <a:pathLst>
                <a:path h="622300" w="635000">
                  <a:moveTo>
                    <a:pt x="547370" y="62230"/>
                  </a:moveTo>
                  <a:lnTo>
                    <a:pt x="401320" y="267970"/>
                  </a:lnTo>
                  <a:lnTo>
                    <a:pt x="635000" y="346710"/>
                  </a:lnTo>
                  <a:lnTo>
                    <a:pt x="605790" y="445770"/>
                  </a:lnTo>
                  <a:lnTo>
                    <a:pt x="369570" y="367030"/>
                  </a:lnTo>
                  <a:lnTo>
                    <a:pt x="369570" y="622300"/>
                  </a:lnTo>
                  <a:lnTo>
                    <a:pt x="267970" y="622300"/>
                  </a:lnTo>
                  <a:lnTo>
                    <a:pt x="267970" y="367030"/>
                  </a:lnTo>
                  <a:lnTo>
                    <a:pt x="31750" y="445770"/>
                  </a:lnTo>
                  <a:lnTo>
                    <a:pt x="0" y="346710"/>
                  </a:lnTo>
                  <a:lnTo>
                    <a:pt x="236220" y="267970"/>
                  </a:lnTo>
                  <a:lnTo>
                    <a:pt x="90170" y="62230"/>
                  </a:lnTo>
                  <a:lnTo>
                    <a:pt x="172720" y="0"/>
                  </a:lnTo>
                  <a:lnTo>
                    <a:pt x="318770" y="205740"/>
                  </a:lnTo>
                  <a:lnTo>
                    <a:pt x="464820" y="0"/>
                  </a:lnTo>
                  <a:lnTo>
                    <a:pt x="547370" y="62230"/>
                  </a:lnTo>
                  <a:close/>
                </a:path>
              </a:pathLst>
            </a:custGeom>
            <a:solidFill>
              <a:srgbClr val="7CAAD8"/>
            </a:solidFill>
          </p:spPr>
        </p:sp>
        <p:sp>
          <p:nvSpPr>
            <p:cNvPr name="TextBox 8" id="8"/>
            <p:cNvSpPr txBox="true"/>
            <p:nvPr/>
          </p:nvSpPr>
          <p:spPr>
            <a:xfrm>
              <a:off x="146050" y="158750"/>
              <a:ext cx="342900" cy="323850"/>
            </a:xfrm>
            <a:prstGeom prst="rect">
              <a:avLst/>
            </a:prstGeom>
          </p:spPr>
          <p:txBody>
            <a:bodyPr anchor="ctr" rtlCol="false" tIns="50800" lIns="50800" bIns="50800" rIns="50800"/>
            <a:lstStyle/>
            <a:p>
              <a:pPr algn="ctr">
                <a:lnSpc>
                  <a:spcPts val="2066"/>
                </a:lnSpc>
              </a:pPr>
            </a:p>
          </p:txBody>
        </p:sp>
      </p:grpSp>
      <p:sp>
        <p:nvSpPr>
          <p:cNvPr name="AutoShape 9" id="9"/>
          <p:cNvSpPr/>
          <p:nvPr/>
        </p:nvSpPr>
        <p:spPr>
          <a:xfrm>
            <a:off x="12170682" y="6793585"/>
            <a:ext cx="4827911" cy="0"/>
          </a:xfrm>
          <a:prstGeom prst="line">
            <a:avLst/>
          </a:prstGeom>
          <a:ln cap="flat" w="9525">
            <a:solidFill>
              <a:srgbClr val="7CAAD8"/>
            </a:solidFill>
            <a:prstDash val="solid"/>
            <a:headEnd type="none" len="sm" w="sm"/>
            <a:tailEnd type="none" len="sm" w="sm"/>
          </a:ln>
        </p:spPr>
      </p:sp>
      <p:grpSp>
        <p:nvGrpSpPr>
          <p:cNvPr name="Group 10" id="10"/>
          <p:cNvGrpSpPr/>
          <p:nvPr/>
        </p:nvGrpSpPr>
        <p:grpSpPr>
          <a:xfrm rot="0">
            <a:off x="1028700" y="6663231"/>
            <a:ext cx="260707" cy="26070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7CAAD8"/>
              </a:solidFill>
              <a:prstDash val="solid"/>
              <a:miter/>
            </a:ln>
          </p:spPr>
        </p:sp>
        <p:sp>
          <p:nvSpPr>
            <p:cNvPr name="TextBox 12" id="12"/>
            <p:cNvSpPr txBox="true"/>
            <p:nvPr/>
          </p:nvSpPr>
          <p:spPr>
            <a:xfrm>
              <a:off x="76200" y="95250"/>
              <a:ext cx="660400" cy="641350"/>
            </a:xfrm>
            <a:prstGeom prst="rect">
              <a:avLst/>
            </a:prstGeom>
          </p:spPr>
          <p:txBody>
            <a:bodyPr anchor="ctr" rtlCol="false" tIns="50800" lIns="50800" bIns="50800" rIns="50800"/>
            <a:lstStyle/>
            <a:p>
              <a:pPr algn="ctr">
                <a:lnSpc>
                  <a:spcPts val="2066"/>
                </a:lnSpc>
              </a:pPr>
            </a:p>
          </p:txBody>
        </p:sp>
      </p:grpSp>
      <p:grpSp>
        <p:nvGrpSpPr>
          <p:cNvPr name="Group 13" id="13"/>
          <p:cNvGrpSpPr/>
          <p:nvPr/>
        </p:nvGrpSpPr>
        <p:grpSpPr>
          <a:xfrm rot="0">
            <a:off x="16998593" y="6663231"/>
            <a:ext cx="260707" cy="26070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7CAAD8"/>
              </a:solidFill>
              <a:prstDash val="solid"/>
              <a:miter/>
            </a:ln>
          </p:spPr>
        </p:sp>
        <p:sp>
          <p:nvSpPr>
            <p:cNvPr name="TextBox 15" id="15"/>
            <p:cNvSpPr txBox="true"/>
            <p:nvPr/>
          </p:nvSpPr>
          <p:spPr>
            <a:xfrm>
              <a:off x="76200" y="95250"/>
              <a:ext cx="660400" cy="641350"/>
            </a:xfrm>
            <a:prstGeom prst="rect">
              <a:avLst/>
            </a:prstGeom>
          </p:spPr>
          <p:txBody>
            <a:bodyPr anchor="ctr" rtlCol="false" tIns="50800" lIns="50800" bIns="50800" rIns="50800"/>
            <a:lstStyle/>
            <a:p>
              <a:pPr algn="ctr">
                <a:lnSpc>
                  <a:spcPts val="2066"/>
                </a:lnSpc>
              </a:pPr>
            </a:p>
          </p:txBody>
        </p:sp>
      </p:grpSp>
      <p:sp>
        <p:nvSpPr>
          <p:cNvPr name="TextBox 16" id="16"/>
          <p:cNvSpPr txBox="true"/>
          <p:nvPr/>
        </p:nvSpPr>
        <p:spPr>
          <a:xfrm rot="0">
            <a:off x="2152959" y="2307097"/>
            <a:ext cx="9198179" cy="2131445"/>
          </a:xfrm>
          <a:prstGeom prst="rect">
            <a:avLst/>
          </a:prstGeom>
        </p:spPr>
        <p:txBody>
          <a:bodyPr anchor="t" rtlCol="false" tIns="0" lIns="0" bIns="0" rIns="0">
            <a:spAutoFit/>
          </a:bodyPr>
          <a:lstStyle/>
          <a:p>
            <a:pPr algn="ctr">
              <a:lnSpc>
                <a:spcPts val="16313"/>
              </a:lnSpc>
              <a:spcBef>
                <a:spcPct val="0"/>
              </a:spcBef>
            </a:pPr>
            <a:r>
              <a:rPr lang="en-US" sz="14830" spc="2966">
                <a:solidFill>
                  <a:srgbClr val="7CAAD8"/>
                </a:solidFill>
                <a:latin typeface="Big Shoulders Display"/>
                <a:ea typeface="Big Shoulders Display"/>
                <a:cs typeface="Big Shoulders Display"/>
                <a:sym typeface="Big Shoulders Display"/>
              </a:rPr>
              <a:t>CARETAKER</a:t>
            </a:r>
          </a:p>
        </p:txBody>
      </p:sp>
      <p:sp>
        <p:nvSpPr>
          <p:cNvPr name="TextBox 17" id="17"/>
          <p:cNvSpPr txBox="true"/>
          <p:nvPr/>
        </p:nvSpPr>
        <p:spPr>
          <a:xfrm rot="0">
            <a:off x="13193599" y="2613467"/>
            <a:ext cx="3578065" cy="1440100"/>
          </a:xfrm>
          <a:prstGeom prst="rect">
            <a:avLst/>
          </a:prstGeom>
        </p:spPr>
        <p:txBody>
          <a:bodyPr anchor="t" rtlCol="false" tIns="0" lIns="0" bIns="0" rIns="0">
            <a:spAutoFit/>
          </a:bodyPr>
          <a:lstStyle/>
          <a:p>
            <a:pPr algn="ctr">
              <a:lnSpc>
                <a:spcPts val="11067"/>
              </a:lnSpc>
              <a:spcBef>
                <a:spcPct val="0"/>
              </a:spcBef>
            </a:pPr>
            <a:r>
              <a:rPr lang="en-US" sz="10061" spc="2012">
                <a:solidFill>
                  <a:srgbClr val="7CAAD8"/>
                </a:solidFill>
                <a:latin typeface="Big Shoulders Display"/>
                <a:ea typeface="Big Shoulders Display"/>
                <a:cs typeface="Big Shoulders Display"/>
                <a:sym typeface="Big Shoulders Display"/>
              </a:rPr>
              <a:t>AGENT</a:t>
            </a:r>
          </a:p>
        </p:txBody>
      </p:sp>
      <p:sp>
        <p:nvSpPr>
          <p:cNvPr name="TextBox 18" id="18"/>
          <p:cNvSpPr txBox="true"/>
          <p:nvPr/>
        </p:nvSpPr>
        <p:spPr>
          <a:xfrm rot="0">
            <a:off x="8607500" y="1469486"/>
            <a:ext cx="1073001" cy="189230"/>
          </a:xfrm>
          <a:prstGeom prst="rect">
            <a:avLst/>
          </a:prstGeom>
        </p:spPr>
        <p:txBody>
          <a:bodyPr anchor="t" rtlCol="false" tIns="0" lIns="0" bIns="0" rIns="0">
            <a:spAutoFit/>
          </a:bodyPr>
          <a:lstStyle/>
          <a:p>
            <a:pPr algn="ctr">
              <a:lnSpc>
                <a:spcPts val="1540"/>
              </a:lnSpc>
              <a:spcBef>
                <a:spcPct val="0"/>
              </a:spcBef>
            </a:pPr>
            <a:r>
              <a:rPr lang="en-US" b="true" sz="1400" spc="-42">
                <a:solidFill>
                  <a:srgbClr val="282C32"/>
                </a:solidFill>
                <a:latin typeface="Space Mono Bold"/>
                <a:ea typeface="Space Mono Bold"/>
                <a:cs typeface="Space Mono Bold"/>
                <a:sym typeface="Space Mono Bold"/>
              </a:rPr>
              <a:t>C</a:t>
            </a:r>
            <a:r>
              <a:rPr lang="en-US" b="true" sz="1400" spc="-42">
                <a:solidFill>
                  <a:srgbClr val="282C32"/>
                </a:solidFill>
                <a:latin typeface="Space Mono Bold"/>
                <a:ea typeface="Space Mono Bold"/>
                <a:cs typeface="Space Mono Bold"/>
                <a:sym typeface="Space Mono Bold"/>
              </a:rPr>
              <a:t>LOUDLET</a:t>
            </a:r>
          </a:p>
        </p:txBody>
      </p:sp>
      <p:sp>
        <p:nvSpPr>
          <p:cNvPr name="TextBox 19" id="19"/>
          <p:cNvSpPr txBox="true"/>
          <p:nvPr/>
        </p:nvSpPr>
        <p:spPr>
          <a:xfrm rot="0">
            <a:off x="4786313" y="9069070"/>
            <a:ext cx="8715375" cy="189230"/>
          </a:xfrm>
          <a:prstGeom prst="rect">
            <a:avLst/>
          </a:prstGeom>
        </p:spPr>
        <p:txBody>
          <a:bodyPr anchor="t" rtlCol="false" tIns="0" lIns="0" bIns="0" rIns="0">
            <a:spAutoFit/>
          </a:bodyPr>
          <a:lstStyle/>
          <a:p>
            <a:pPr algn="ctr">
              <a:lnSpc>
                <a:spcPts val="1540"/>
              </a:lnSpc>
              <a:spcBef>
                <a:spcPct val="0"/>
              </a:spcBef>
            </a:pPr>
            <a:r>
              <a:rPr lang="en-US" sz="1400" spc="379">
                <a:solidFill>
                  <a:srgbClr val="282C32"/>
                </a:solidFill>
                <a:latin typeface="Space Mono"/>
                <a:ea typeface="Space Mono"/>
                <a:cs typeface="Space Mono"/>
                <a:sym typeface="Space Mono"/>
              </a:rPr>
              <a:t>THE NEXT EVO</a:t>
            </a:r>
            <a:r>
              <a:rPr lang="en-US" sz="1400" spc="379">
                <a:solidFill>
                  <a:srgbClr val="282C32"/>
                </a:solidFill>
                <a:latin typeface="Space Mono"/>
                <a:ea typeface="Space Mono"/>
                <a:cs typeface="Space Mono"/>
                <a:sym typeface="Space Mono"/>
              </a:rPr>
              <a:t>LUTION OF INTELLIGENT AUTOMATION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025918" y="1028700"/>
            <a:ext cx="236164" cy="231441"/>
            <a:chOff x="0" y="0"/>
            <a:chExt cx="635000" cy="622300"/>
          </a:xfrm>
        </p:grpSpPr>
        <p:sp>
          <p:nvSpPr>
            <p:cNvPr name="Freeform 3" id="3"/>
            <p:cNvSpPr/>
            <p:nvPr/>
          </p:nvSpPr>
          <p:spPr>
            <a:xfrm flipH="false" flipV="false" rot="0">
              <a:off x="0" y="0"/>
              <a:ext cx="635000" cy="622300"/>
            </a:xfrm>
            <a:custGeom>
              <a:avLst/>
              <a:gdLst/>
              <a:ahLst/>
              <a:cxnLst/>
              <a:rect r="r" b="b" t="t" l="l"/>
              <a:pathLst>
                <a:path h="622300" w="635000">
                  <a:moveTo>
                    <a:pt x="547370" y="62230"/>
                  </a:moveTo>
                  <a:lnTo>
                    <a:pt x="401320" y="267970"/>
                  </a:lnTo>
                  <a:lnTo>
                    <a:pt x="635000" y="346710"/>
                  </a:lnTo>
                  <a:lnTo>
                    <a:pt x="605790" y="445770"/>
                  </a:lnTo>
                  <a:lnTo>
                    <a:pt x="369570" y="367030"/>
                  </a:lnTo>
                  <a:lnTo>
                    <a:pt x="369570" y="622300"/>
                  </a:lnTo>
                  <a:lnTo>
                    <a:pt x="267970" y="622300"/>
                  </a:lnTo>
                  <a:lnTo>
                    <a:pt x="267970" y="367030"/>
                  </a:lnTo>
                  <a:lnTo>
                    <a:pt x="31750" y="445770"/>
                  </a:lnTo>
                  <a:lnTo>
                    <a:pt x="0" y="346710"/>
                  </a:lnTo>
                  <a:lnTo>
                    <a:pt x="236220" y="267970"/>
                  </a:lnTo>
                  <a:lnTo>
                    <a:pt x="90170" y="62230"/>
                  </a:lnTo>
                  <a:lnTo>
                    <a:pt x="172720" y="0"/>
                  </a:lnTo>
                  <a:lnTo>
                    <a:pt x="318770" y="205740"/>
                  </a:lnTo>
                  <a:lnTo>
                    <a:pt x="464820" y="0"/>
                  </a:lnTo>
                  <a:lnTo>
                    <a:pt x="547370" y="62230"/>
                  </a:lnTo>
                  <a:close/>
                </a:path>
              </a:pathLst>
            </a:custGeom>
            <a:solidFill>
              <a:srgbClr val="7CAAD8"/>
            </a:solidFill>
          </p:spPr>
        </p:sp>
        <p:sp>
          <p:nvSpPr>
            <p:cNvPr name="TextBox 4" id="4"/>
            <p:cNvSpPr txBox="true"/>
            <p:nvPr/>
          </p:nvSpPr>
          <p:spPr>
            <a:xfrm>
              <a:off x="146050" y="158750"/>
              <a:ext cx="342900" cy="323850"/>
            </a:xfrm>
            <a:prstGeom prst="rect">
              <a:avLst/>
            </a:prstGeom>
          </p:spPr>
          <p:txBody>
            <a:bodyPr anchor="ctr" rtlCol="false" tIns="50800" lIns="50800" bIns="50800" rIns="50800"/>
            <a:lstStyle/>
            <a:p>
              <a:pPr algn="ctr">
                <a:lnSpc>
                  <a:spcPts val="2066"/>
                </a:lnSpc>
              </a:pPr>
            </a:p>
          </p:txBody>
        </p:sp>
      </p:grpSp>
      <p:sp>
        <p:nvSpPr>
          <p:cNvPr name="TextBox 5" id="5"/>
          <p:cNvSpPr txBox="true"/>
          <p:nvPr/>
        </p:nvSpPr>
        <p:spPr>
          <a:xfrm rot="0">
            <a:off x="1744374" y="3886852"/>
            <a:ext cx="14799252" cy="2370422"/>
          </a:xfrm>
          <a:prstGeom prst="rect">
            <a:avLst/>
          </a:prstGeom>
        </p:spPr>
        <p:txBody>
          <a:bodyPr anchor="t" rtlCol="false" tIns="0" lIns="0" bIns="0" rIns="0">
            <a:spAutoFit/>
          </a:bodyPr>
          <a:lstStyle/>
          <a:p>
            <a:pPr algn="ctr">
              <a:lnSpc>
                <a:spcPts val="9520"/>
              </a:lnSpc>
            </a:pPr>
            <a:r>
              <a:rPr lang="en-US" sz="6800" spc="1360">
                <a:solidFill>
                  <a:srgbClr val="7CAAD8"/>
                </a:solidFill>
                <a:latin typeface="Big Shoulders Display"/>
                <a:ea typeface="Big Shoulders Display"/>
                <a:cs typeface="Big Shoulders Display"/>
                <a:sym typeface="Big Shoulders Display"/>
              </a:rPr>
              <a:t>“</a:t>
            </a:r>
            <a:r>
              <a:rPr lang="en-US" sz="6800" spc="1360">
                <a:solidFill>
                  <a:srgbClr val="7CAAD8"/>
                </a:solidFill>
                <a:latin typeface="Big Shoulders Display"/>
                <a:ea typeface="Big Shoulders Display"/>
                <a:cs typeface="Big Shoulders Display"/>
                <a:sym typeface="Big Shoulders Display"/>
              </a:rPr>
              <a:t>AI THAT ACTS, LEARNS, AND DECIDES IS NO LONGER SCIENCE FICTION.”</a:t>
            </a:r>
          </a:p>
        </p:txBody>
      </p:sp>
      <p:sp>
        <p:nvSpPr>
          <p:cNvPr name="Freeform 6" id="6"/>
          <p:cNvSpPr/>
          <p:nvPr/>
        </p:nvSpPr>
        <p:spPr>
          <a:xfrm flipH="false" flipV="false" rot="0">
            <a:off x="8922666" y="8814826"/>
            <a:ext cx="442668" cy="443474"/>
          </a:xfrm>
          <a:custGeom>
            <a:avLst/>
            <a:gdLst/>
            <a:ahLst/>
            <a:cxnLst/>
            <a:rect r="r" b="b" t="t" l="l"/>
            <a:pathLst>
              <a:path h="443474" w="442668">
                <a:moveTo>
                  <a:pt x="0" y="0"/>
                </a:moveTo>
                <a:lnTo>
                  <a:pt x="442668" y="0"/>
                </a:lnTo>
                <a:lnTo>
                  <a:pt x="442668" y="443474"/>
                </a:lnTo>
                <a:lnTo>
                  <a:pt x="0" y="4434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8607500" y="1469486"/>
            <a:ext cx="1073001" cy="189230"/>
          </a:xfrm>
          <a:prstGeom prst="rect">
            <a:avLst/>
          </a:prstGeom>
        </p:spPr>
        <p:txBody>
          <a:bodyPr anchor="t" rtlCol="false" tIns="0" lIns="0" bIns="0" rIns="0">
            <a:spAutoFit/>
          </a:bodyPr>
          <a:lstStyle/>
          <a:p>
            <a:pPr algn="ctr">
              <a:lnSpc>
                <a:spcPts val="1540"/>
              </a:lnSpc>
              <a:spcBef>
                <a:spcPct val="0"/>
              </a:spcBef>
            </a:pPr>
            <a:r>
              <a:rPr lang="en-US" b="true" sz="1400" spc="-42">
                <a:solidFill>
                  <a:srgbClr val="282C32"/>
                </a:solidFill>
                <a:latin typeface="Space Mono Bold"/>
                <a:ea typeface="Space Mono Bold"/>
                <a:cs typeface="Space Mono Bold"/>
                <a:sym typeface="Space Mono Bold"/>
              </a:rPr>
              <a:t>C</a:t>
            </a:r>
            <a:r>
              <a:rPr lang="en-US" b="true" sz="1400" spc="-42">
                <a:solidFill>
                  <a:srgbClr val="282C32"/>
                </a:solidFill>
                <a:latin typeface="Space Mono Bold"/>
                <a:ea typeface="Space Mono Bold"/>
                <a:cs typeface="Space Mono Bold"/>
                <a:sym typeface="Space Mono Bold"/>
              </a:rPr>
              <a:t>LOUDLET</a:t>
            </a:r>
          </a:p>
        </p:txBody>
      </p:sp>
      <p:sp>
        <p:nvSpPr>
          <p:cNvPr name="AutoShape 8" id="8"/>
          <p:cNvSpPr/>
          <p:nvPr/>
        </p:nvSpPr>
        <p:spPr>
          <a:xfrm>
            <a:off x="1028700" y="3476204"/>
            <a:ext cx="16230600" cy="0"/>
          </a:xfrm>
          <a:prstGeom prst="line">
            <a:avLst/>
          </a:prstGeom>
          <a:ln cap="flat" w="9525">
            <a:solidFill>
              <a:srgbClr val="7CAAD8"/>
            </a:solidFill>
            <a:prstDash val="solid"/>
            <a:headEnd type="none" len="sm" w="sm"/>
            <a:tailEnd type="none" len="sm" w="sm"/>
          </a:ln>
        </p:spPr>
      </p:sp>
      <p:sp>
        <p:nvSpPr>
          <p:cNvPr name="AutoShape 9" id="9"/>
          <p:cNvSpPr/>
          <p:nvPr/>
        </p:nvSpPr>
        <p:spPr>
          <a:xfrm>
            <a:off x="1028700" y="6810796"/>
            <a:ext cx="16230600" cy="0"/>
          </a:xfrm>
          <a:prstGeom prst="line">
            <a:avLst/>
          </a:prstGeom>
          <a:ln cap="flat" w="9525">
            <a:solidFill>
              <a:srgbClr val="7CAAD8"/>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236164" cy="231441"/>
            <a:chOff x="0" y="0"/>
            <a:chExt cx="635000" cy="622300"/>
          </a:xfrm>
        </p:grpSpPr>
        <p:sp>
          <p:nvSpPr>
            <p:cNvPr name="Freeform 3" id="3"/>
            <p:cNvSpPr/>
            <p:nvPr/>
          </p:nvSpPr>
          <p:spPr>
            <a:xfrm flipH="false" flipV="false" rot="0">
              <a:off x="0" y="0"/>
              <a:ext cx="635000" cy="622300"/>
            </a:xfrm>
            <a:custGeom>
              <a:avLst/>
              <a:gdLst/>
              <a:ahLst/>
              <a:cxnLst/>
              <a:rect r="r" b="b" t="t" l="l"/>
              <a:pathLst>
                <a:path h="622300" w="635000">
                  <a:moveTo>
                    <a:pt x="547370" y="62230"/>
                  </a:moveTo>
                  <a:lnTo>
                    <a:pt x="401320" y="267970"/>
                  </a:lnTo>
                  <a:lnTo>
                    <a:pt x="635000" y="346710"/>
                  </a:lnTo>
                  <a:lnTo>
                    <a:pt x="605790" y="445770"/>
                  </a:lnTo>
                  <a:lnTo>
                    <a:pt x="369570" y="367030"/>
                  </a:lnTo>
                  <a:lnTo>
                    <a:pt x="369570" y="622300"/>
                  </a:lnTo>
                  <a:lnTo>
                    <a:pt x="267970" y="622300"/>
                  </a:lnTo>
                  <a:lnTo>
                    <a:pt x="267970" y="367030"/>
                  </a:lnTo>
                  <a:lnTo>
                    <a:pt x="31750" y="445770"/>
                  </a:lnTo>
                  <a:lnTo>
                    <a:pt x="0" y="346710"/>
                  </a:lnTo>
                  <a:lnTo>
                    <a:pt x="236220" y="267970"/>
                  </a:lnTo>
                  <a:lnTo>
                    <a:pt x="90170" y="62230"/>
                  </a:lnTo>
                  <a:lnTo>
                    <a:pt x="172720" y="0"/>
                  </a:lnTo>
                  <a:lnTo>
                    <a:pt x="318770" y="205740"/>
                  </a:lnTo>
                  <a:lnTo>
                    <a:pt x="464820" y="0"/>
                  </a:lnTo>
                  <a:lnTo>
                    <a:pt x="547370" y="62230"/>
                  </a:lnTo>
                  <a:close/>
                </a:path>
              </a:pathLst>
            </a:custGeom>
            <a:solidFill>
              <a:srgbClr val="7CAAD8"/>
            </a:solidFill>
          </p:spPr>
        </p:sp>
        <p:sp>
          <p:nvSpPr>
            <p:cNvPr name="TextBox 4" id="4"/>
            <p:cNvSpPr txBox="true"/>
            <p:nvPr/>
          </p:nvSpPr>
          <p:spPr>
            <a:xfrm>
              <a:off x="146050" y="158750"/>
              <a:ext cx="342900" cy="323850"/>
            </a:xfrm>
            <a:prstGeom prst="rect">
              <a:avLst/>
            </a:prstGeom>
          </p:spPr>
          <p:txBody>
            <a:bodyPr anchor="ctr" rtlCol="false" tIns="50800" lIns="50800" bIns="50800" rIns="50800"/>
            <a:lstStyle/>
            <a:p>
              <a:pPr algn="ctr">
                <a:lnSpc>
                  <a:spcPts val="2066"/>
                </a:lnSpc>
              </a:pPr>
            </a:p>
          </p:txBody>
        </p:sp>
      </p:grpSp>
      <p:grpSp>
        <p:nvGrpSpPr>
          <p:cNvPr name="Group 5" id="5"/>
          <p:cNvGrpSpPr/>
          <p:nvPr/>
        </p:nvGrpSpPr>
        <p:grpSpPr>
          <a:xfrm rot="0">
            <a:off x="13372295" y="4140144"/>
            <a:ext cx="4460098" cy="5211652"/>
            <a:chOff x="0" y="0"/>
            <a:chExt cx="900176" cy="1051862"/>
          </a:xfrm>
        </p:grpSpPr>
        <p:sp>
          <p:nvSpPr>
            <p:cNvPr name="Freeform 6" id="6"/>
            <p:cNvSpPr/>
            <p:nvPr/>
          </p:nvSpPr>
          <p:spPr>
            <a:xfrm flipH="false" flipV="false" rot="0">
              <a:off x="0" y="0"/>
              <a:ext cx="900176" cy="1051862"/>
            </a:xfrm>
            <a:custGeom>
              <a:avLst/>
              <a:gdLst/>
              <a:ahLst/>
              <a:cxnLst/>
              <a:rect r="r" b="b" t="t" l="l"/>
              <a:pathLst>
                <a:path h="1051862" w="900176">
                  <a:moveTo>
                    <a:pt x="34716" y="0"/>
                  </a:moveTo>
                  <a:lnTo>
                    <a:pt x="865460" y="0"/>
                  </a:lnTo>
                  <a:cubicBezTo>
                    <a:pt x="874667" y="0"/>
                    <a:pt x="883498" y="3658"/>
                    <a:pt x="890008" y="10168"/>
                  </a:cubicBezTo>
                  <a:cubicBezTo>
                    <a:pt x="896519" y="16679"/>
                    <a:pt x="900176" y="25509"/>
                    <a:pt x="900176" y="34716"/>
                  </a:cubicBezTo>
                  <a:lnTo>
                    <a:pt x="900176" y="1017145"/>
                  </a:lnTo>
                  <a:cubicBezTo>
                    <a:pt x="900176" y="1026353"/>
                    <a:pt x="896519" y="1035183"/>
                    <a:pt x="890008" y="1041693"/>
                  </a:cubicBezTo>
                  <a:cubicBezTo>
                    <a:pt x="883498" y="1048204"/>
                    <a:pt x="874667" y="1051862"/>
                    <a:pt x="865460" y="1051862"/>
                  </a:cubicBezTo>
                  <a:lnTo>
                    <a:pt x="34716" y="1051862"/>
                  </a:lnTo>
                  <a:cubicBezTo>
                    <a:pt x="25509" y="1051862"/>
                    <a:pt x="16679" y="1048204"/>
                    <a:pt x="10168" y="1041693"/>
                  </a:cubicBezTo>
                  <a:cubicBezTo>
                    <a:pt x="3658" y="1035183"/>
                    <a:pt x="0" y="1026353"/>
                    <a:pt x="0" y="1017145"/>
                  </a:cubicBezTo>
                  <a:lnTo>
                    <a:pt x="0" y="34716"/>
                  </a:lnTo>
                  <a:cubicBezTo>
                    <a:pt x="0" y="25509"/>
                    <a:pt x="3658" y="16679"/>
                    <a:pt x="10168" y="10168"/>
                  </a:cubicBezTo>
                  <a:cubicBezTo>
                    <a:pt x="16679" y="3658"/>
                    <a:pt x="25509" y="0"/>
                    <a:pt x="34716" y="0"/>
                  </a:cubicBezTo>
                  <a:close/>
                </a:path>
              </a:pathLst>
            </a:custGeom>
            <a:blipFill>
              <a:blip r:embed="rId2"/>
              <a:stretch>
                <a:fillRect l="-1869" t="0" r="-1869" b="0"/>
              </a:stretch>
            </a:blipFill>
          </p:spPr>
        </p:sp>
      </p:grpSp>
      <p:grpSp>
        <p:nvGrpSpPr>
          <p:cNvPr name="Group 7" id="7"/>
          <p:cNvGrpSpPr/>
          <p:nvPr/>
        </p:nvGrpSpPr>
        <p:grpSpPr>
          <a:xfrm rot="0">
            <a:off x="5230025" y="8273437"/>
            <a:ext cx="260707" cy="26070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7CAAD8"/>
              </a:solidFill>
              <a:prstDash val="solid"/>
              <a:miter/>
            </a:ln>
          </p:spPr>
        </p:sp>
        <p:sp>
          <p:nvSpPr>
            <p:cNvPr name="TextBox 9" id="9"/>
            <p:cNvSpPr txBox="true"/>
            <p:nvPr/>
          </p:nvSpPr>
          <p:spPr>
            <a:xfrm>
              <a:off x="76200" y="95250"/>
              <a:ext cx="660400" cy="641350"/>
            </a:xfrm>
            <a:prstGeom prst="rect">
              <a:avLst/>
            </a:prstGeom>
          </p:spPr>
          <p:txBody>
            <a:bodyPr anchor="ctr" rtlCol="false" tIns="50800" lIns="50800" bIns="50800" rIns="50800"/>
            <a:lstStyle/>
            <a:p>
              <a:pPr algn="ctr">
                <a:lnSpc>
                  <a:spcPts val="2066"/>
                </a:lnSpc>
              </a:pPr>
            </a:p>
          </p:txBody>
        </p:sp>
      </p:grpSp>
      <p:sp>
        <p:nvSpPr>
          <p:cNvPr name="TextBox 10" id="10"/>
          <p:cNvSpPr txBox="true"/>
          <p:nvPr/>
        </p:nvSpPr>
        <p:spPr>
          <a:xfrm rot="0">
            <a:off x="1146782" y="1047750"/>
            <a:ext cx="1073001" cy="189230"/>
          </a:xfrm>
          <a:prstGeom prst="rect">
            <a:avLst/>
          </a:prstGeom>
        </p:spPr>
        <p:txBody>
          <a:bodyPr anchor="t" rtlCol="false" tIns="0" lIns="0" bIns="0" rIns="0">
            <a:spAutoFit/>
          </a:bodyPr>
          <a:lstStyle/>
          <a:p>
            <a:pPr algn="r">
              <a:lnSpc>
                <a:spcPts val="1540"/>
              </a:lnSpc>
              <a:spcBef>
                <a:spcPct val="0"/>
              </a:spcBef>
            </a:pPr>
            <a:r>
              <a:rPr lang="en-US" b="true" sz="1400" spc="-42">
                <a:solidFill>
                  <a:srgbClr val="282C32"/>
                </a:solidFill>
                <a:latin typeface="Space Mono Bold"/>
                <a:ea typeface="Space Mono Bold"/>
                <a:cs typeface="Space Mono Bold"/>
                <a:sym typeface="Space Mono Bold"/>
              </a:rPr>
              <a:t>C</a:t>
            </a:r>
            <a:r>
              <a:rPr lang="en-US" b="true" sz="1400" spc="-42">
                <a:solidFill>
                  <a:srgbClr val="282C32"/>
                </a:solidFill>
                <a:latin typeface="Space Mono Bold"/>
                <a:ea typeface="Space Mono Bold"/>
                <a:cs typeface="Space Mono Bold"/>
                <a:sym typeface="Space Mono Bold"/>
              </a:rPr>
              <a:t>LOUDLET</a:t>
            </a:r>
          </a:p>
        </p:txBody>
      </p:sp>
      <p:sp>
        <p:nvSpPr>
          <p:cNvPr name="TextBox 11" id="11"/>
          <p:cNvSpPr txBox="true"/>
          <p:nvPr/>
        </p:nvSpPr>
        <p:spPr>
          <a:xfrm rot="0">
            <a:off x="3620047" y="1143000"/>
            <a:ext cx="12690326" cy="1881261"/>
          </a:xfrm>
          <a:prstGeom prst="rect">
            <a:avLst/>
          </a:prstGeom>
        </p:spPr>
        <p:txBody>
          <a:bodyPr anchor="t" rtlCol="false" tIns="0" lIns="0" bIns="0" rIns="0">
            <a:spAutoFit/>
          </a:bodyPr>
          <a:lstStyle/>
          <a:p>
            <a:pPr algn="l">
              <a:lnSpc>
                <a:spcPts val="14443"/>
              </a:lnSpc>
              <a:spcBef>
                <a:spcPct val="0"/>
              </a:spcBef>
            </a:pPr>
            <a:r>
              <a:rPr lang="en-US" sz="13130">
                <a:solidFill>
                  <a:srgbClr val="7CAAD8"/>
                </a:solidFill>
                <a:latin typeface="Big Shoulders Display"/>
                <a:ea typeface="Big Shoulders Display"/>
                <a:cs typeface="Big Shoulders Display"/>
                <a:sym typeface="Big Shoulders Display"/>
              </a:rPr>
              <a:t>PROBLEM STATEMENT</a:t>
            </a:r>
          </a:p>
        </p:txBody>
      </p:sp>
      <p:sp>
        <p:nvSpPr>
          <p:cNvPr name="TextBox 12" id="12"/>
          <p:cNvSpPr txBox="true"/>
          <p:nvPr/>
        </p:nvSpPr>
        <p:spPr>
          <a:xfrm rot="0">
            <a:off x="1028700" y="4102044"/>
            <a:ext cx="12086457" cy="6353272"/>
          </a:xfrm>
          <a:prstGeom prst="rect">
            <a:avLst/>
          </a:prstGeom>
        </p:spPr>
        <p:txBody>
          <a:bodyPr anchor="t" rtlCol="false" tIns="0" lIns="0" bIns="0" rIns="0">
            <a:spAutoFit/>
          </a:bodyPr>
          <a:lstStyle/>
          <a:p>
            <a:pPr algn="ctr">
              <a:lnSpc>
                <a:spcPts val="3183"/>
              </a:lnSpc>
            </a:pPr>
            <a:r>
              <a:rPr lang="en-US" sz="2273" spc="-81">
                <a:solidFill>
                  <a:srgbClr val="000000"/>
                </a:solidFill>
                <a:latin typeface="Canva Sans"/>
                <a:ea typeface="Canva Sans"/>
                <a:cs typeface="Canva Sans"/>
                <a:sym typeface="Canva Sans"/>
              </a:rPr>
              <a:t>Modern professionals are paralyzed by context switching. We bounce constantly between IDEs, Slack, Outlook, and dashboards. This creates three critical bottlenecks:  </a:t>
            </a:r>
          </a:p>
          <a:p>
            <a:pPr algn="ctr">
              <a:lnSpc>
                <a:spcPts val="3183"/>
              </a:lnSpc>
            </a:pPr>
          </a:p>
          <a:p>
            <a:pPr algn="l" marL="490891" indent="-245446" lvl="1">
              <a:lnSpc>
                <a:spcPts val="3183"/>
              </a:lnSpc>
              <a:buFont typeface="Arial"/>
              <a:buChar char="•"/>
            </a:pPr>
            <a:r>
              <a:rPr lang="en-US" b="true" sz="2273" spc="-81">
                <a:solidFill>
                  <a:srgbClr val="000000"/>
                </a:solidFill>
                <a:latin typeface="Canva Sans Bold"/>
                <a:ea typeface="Canva Sans Bold"/>
                <a:cs typeface="Canva Sans Bold"/>
                <a:sym typeface="Canva Sans Bold"/>
              </a:rPr>
              <a:t>The Context Tax: </a:t>
            </a:r>
            <a:r>
              <a:rPr lang="en-US" sz="2273" spc="-81">
                <a:solidFill>
                  <a:srgbClr val="000000"/>
                </a:solidFill>
                <a:latin typeface="Canva Sans"/>
                <a:ea typeface="Canva Sans"/>
                <a:cs typeface="Canva Sans"/>
                <a:sym typeface="Canva Sans"/>
              </a:rPr>
              <a:t>Wasting time digging for documents and links immediately after a meeting ends.</a:t>
            </a:r>
          </a:p>
          <a:p>
            <a:pPr algn="l" marL="490891" indent="-245446" lvl="1">
              <a:lnSpc>
                <a:spcPts val="3183"/>
              </a:lnSpc>
              <a:buFont typeface="Arial"/>
              <a:buChar char="•"/>
            </a:pPr>
            <a:r>
              <a:rPr lang="en-US" b="true" sz="2273" spc="-81">
                <a:solidFill>
                  <a:srgbClr val="000000"/>
                </a:solidFill>
                <a:latin typeface="Canva Sans Bold"/>
                <a:ea typeface="Canva Sans Bold"/>
                <a:cs typeface="Canva Sans Bold"/>
                <a:sym typeface="Canva Sans Bold"/>
              </a:rPr>
              <a:t>Forgotten Commitments:</a:t>
            </a:r>
            <a:r>
              <a:rPr lang="en-US" sz="2273" spc="-81">
                <a:solidFill>
                  <a:srgbClr val="000000"/>
                </a:solidFill>
                <a:latin typeface="Canva Sans"/>
                <a:ea typeface="Canva Sans"/>
                <a:cs typeface="Canva Sans"/>
                <a:sym typeface="Canva Sans"/>
              </a:rPr>
              <a:t> Promises made on calls are instantly forgotten when returning to deep work.</a:t>
            </a:r>
          </a:p>
          <a:p>
            <a:pPr algn="l" marL="490891" indent="-245446" lvl="1">
              <a:lnSpc>
                <a:spcPts val="3183"/>
              </a:lnSpc>
              <a:buFont typeface="Arial"/>
              <a:buChar char="•"/>
            </a:pPr>
            <a:r>
              <a:rPr lang="en-US" b="true" sz="2273" spc="-81">
                <a:solidFill>
                  <a:srgbClr val="000000"/>
                </a:solidFill>
                <a:latin typeface="Canva Sans Bold"/>
                <a:ea typeface="Canva Sans Bold"/>
                <a:cs typeface="Canva Sans Bold"/>
                <a:sym typeface="Canva Sans Bold"/>
              </a:rPr>
              <a:t>Mental Paralysis: </a:t>
            </a:r>
            <a:r>
              <a:rPr lang="en-US" sz="2273" spc="-81">
                <a:solidFill>
                  <a:srgbClr val="000000"/>
                </a:solidFill>
                <a:latin typeface="Canva Sans"/>
                <a:ea typeface="Canva Sans"/>
                <a:cs typeface="Canva Sans"/>
                <a:sym typeface="Canva Sans"/>
              </a:rPr>
              <a:t>When overwhelmed, massive to-do lists cause anxiety, not action.</a:t>
            </a:r>
          </a:p>
          <a:p>
            <a:pPr algn="l">
              <a:lnSpc>
                <a:spcPts val="3183"/>
              </a:lnSpc>
            </a:pPr>
          </a:p>
          <a:p>
            <a:pPr algn="l">
              <a:lnSpc>
                <a:spcPts val="3183"/>
              </a:lnSpc>
            </a:pPr>
            <a:r>
              <a:rPr lang="en-US" sz="2273" spc="-81" b="true">
                <a:solidFill>
                  <a:srgbClr val="000000"/>
                </a:solidFill>
                <a:latin typeface="Canva Sans Bold"/>
                <a:ea typeface="Canva Sans Bold"/>
                <a:cs typeface="Canva Sans Bold"/>
                <a:sym typeface="Canva Sans Bold"/>
              </a:rPr>
              <a:t>The Solution: A Zero-Cognitive-Load Assistant :</a:t>
            </a:r>
          </a:p>
          <a:p>
            <a:pPr algn="l">
              <a:lnSpc>
                <a:spcPts val="3183"/>
              </a:lnSpc>
            </a:pPr>
            <a:r>
              <a:rPr lang="en-US" sz="2273" spc="-81">
                <a:solidFill>
                  <a:srgbClr val="000000"/>
                </a:solidFill>
                <a:latin typeface="Canva Sans"/>
                <a:ea typeface="Canva Sans"/>
                <a:cs typeface="Canva Sans"/>
                <a:sym typeface="Canva Sans"/>
              </a:rPr>
              <a:t>Caretaker AI is not another dashboard you have to manage. It is a local, context-aware agent that manages you. It passively tracks your commitments, understands your active workflow, and spoon-feeds you exactly one task or document at the exact moment you need it.</a:t>
            </a:r>
          </a:p>
          <a:p>
            <a:pPr algn="l">
              <a:lnSpc>
                <a:spcPts val="3183"/>
              </a:lnSpc>
            </a:pPr>
          </a:p>
          <a:p>
            <a:pPr algn="l">
              <a:lnSpc>
                <a:spcPts val="3183"/>
              </a:lnSpc>
            </a:pPr>
          </a:p>
          <a:p>
            <a:pPr algn="l">
              <a:lnSpc>
                <a:spcPts val="3183"/>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98688" y="3455650"/>
            <a:ext cx="4849457" cy="5802650"/>
            <a:chOff x="0" y="0"/>
            <a:chExt cx="23476788" cy="28091311"/>
          </a:xfrm>
        </p:grpSpPr>
        <p:sp>
          <p:nvSpPr>
            <p:cNvPr name="Freeform 3" id="3"/>
            <p:cNvSpPr/>
            <p:nvPr/>
          </p:nvSpPr>
          <p:spPr>
            <a:xfrm flipH="false" flipV="false" rot="0">
              <a:off x="21585" y="335"/>
              <a:ext cx="23439965" cy="28079312"/>
            </a:xfrm>
            <a:custGeom>
              <a:avLst/>
              <a:gdLst/>
              <a:ahLst/>
              <a:cxnLst/>
              <a:rect r="r" b="b" t="t" l="l"/>
              <a:pathLst>
                <a:path h="28079312" w="23439965">
                  <a:moveTo>
                    <a:pt x="22806234" y="2695875"/>
                  </a:moveTo>
                  <a:lnTo>
                    <a:pt x="22808773" y="3992545"/>
                  </a:lnTo>
                  <a:lnTo>
                    <a:pt x="23433614" y="5023785"/>
                  </a:lnTo>
                  <a:lnTo>
                    <a:pt x="23437423" y="26721916"/>
                  </a:lnTo>
                  <a:cubicBezTo>
                    <a:pt x="22956095" y="27203245"/>
                    <a:pt x="22552234" y="27605834"/>
                    <a:pt x="22084873" y="28073195"/>
                  </a:cubicBezTo>
                  <a:cubicBezTo>
                    <a:pt x="21880404" y="28028745"/>
                    <a:pt x="981716" y="28116377"/>
                    <a:pt x="327666" y="28059227"/>
                  </a:cubicBezTo>
                  <a:cubicBezTo>
                    <a:pt x="180346" y="28046527"/>
                    <a:pt x="116846" y="27932227"/>
                    <a:pt x="66046" y="27845866"/>
                  </a:cubicBezTo>
                  <a:cubicBezTo>
                    <a:pt x="15246" y="27759505"/>
                    <a:pt x="6" y="27676955"/>
                    <a:pt x="6" y="27638855"/>
                  </a:cubicBezTo>
                  <a:lnTo>
                    <a:pt x="6" y="501315"/>
                  </a:lnTo>
                  <a:cubicBezTo>
                    <a:pt x="-1265" y="230805"/>
                    <a:pt x="200665" y="14905"/>
                    <a:pt x="471175" y="14905"/>
                  </a:cubicBezTo>
                  <a:cubicBezTo>
                    <a:pt x="640085" y="44115"/>
                    <a:pt x="22868464" y="-42245"/>
                    <a:pt x="23090714" y="28875"/>
                  </a:cubicBezTo>
                  <a:cubicBezTo>
                    <a:pt x="23312964" y="99995"/>
                    <a:pt x="23437423" y="286685"/>
                    <a:pt x="23437423" y="491155"/>
                  </a:cubicBezTo>
                  <a:cubicBezTo>
                    <a:pt x="23437423" y="491155"/>
                    <a:pt x="23439964" y="1744645"/>
                    <a:pt x="23439964" y="1744645"/>
                  </a:cubicBezTo>
                  <a:lnTo>
                    <a:pt x="22806234" y="2695875"/>
                  </a:lnTo>
                  <a:close/>
                </a:path>
              </a:pathLst>
            </a:custGeom>
            <a:blipFill>
              <a:blip r:embed="rId2"/>
              <a:stretch>
                <a:fillRect l="-57361" t="-1" r="-57357" b="-1"/>
              </a:stretch>
            </a:blipFill>
          </p:spPr>
        </p:sp>
        <p:sp>
          <p:nvSpPr>
            <p:cNvPr name="Freeform 4" id="4"/>
            <p:cNvSpPr/>
            <p:nvPr/>
          </p:nvSpPr>
          <p:spPr>
            <a:xfrm flipH="false" flipV="false" rot="0">
              <a:off x="0" y="1264"/>
              <a:ext cx="23476790" cy="28088776"/>
            </a:xfrm>
            <a:custGeom>
              <a:avLst/>
              <a:gdLst/>
              <a:ahLst/>
              <a:cxnLst/>
              <a:rect r="r" b="b" t="t" l="l"/>
              <a:pathLst>
                <a:path h="28088776" w="23476790">
                  <a:moveTo>
                    <a:pt x="23184689" y="833126"/>
                  </a:moveTo>
                  <a:lnTo>
                    <a:pt x="16065069" y="833126"/>
                  </a:lnTo>
                  <a:lnTo>
                    <a:pt x="14492808" y="292106"/>
                  </a:lnTo>
                  <a:lnTo>
                    <a:pt x="14490269" y="292106"/>
                  </a:lnTo>
                  <a:cubicBezTo>
                    <a:pt x="14490269" y="292106"/>
                    <a:pt x="8989060" y="292106"/>
                    <a:pt x="8989060" y="292106"/>
                  </a:cubicBezTo>
                  <a:lnTo>
                    <a:pt x="7414260" y="834396"/>
                  </a:lnTo>
                  <a:lnTo>
                    <a:pt x="293370" y="834396"/>
                  </a:lnTo>
                  <a:lnTo>
                    <a:pt x="293370" y="1891036"/>
                  </a:lnTo>
                  <a:lnTo>
                    <a:pt x="835660" y="2269496"/>
                  </a:lnTo>
                  <a:lnTo>
                    <a:pt x="835660" y="27256926"/>
                  </a:lnTo>
                  <a:lnTo>
                    <a:pt x="5826760" y="27256926"/>
                  </a:lnTo>
                  <a:lnTo>
                    <a:pt x="7399020" y="27797948"/>
                  </a:lnTo>
                  <a:lnTo>
                    <a:pt x="7401560" y="27797948"/>
                  </a:lnTo>
                  <a:cubicBezTo>
                    <a:pt x="7401560" y="27797948"/>
                    <a:pt x="21994699" y="27797948"/>
                    <a:pt x="21994699" y="27797948"/>
                  </a:cubicBezTo>
                  <a:lnTo>
                    <a:pt x="22122969" y="27669676"/>
                  </a:lnTo>
                  <a:cubicBezTo>
                    <a:pt x="22233458" y="27559187"/>
                    <a:pt x="22333789" y="27458855"/>
                    <a:pt x="22431578" y="27361066"/>
                  </a:cubicBezTo>
                  <a:lnTo>
                    <a:pt x="22644939" y="27148976"/>
                  </a:lnTo>
                  <a:lnTo>
                    <a:pt x="22644939" y="4206246"/>
                  </a:lnTo>
                  <a:lnTo>
                    <a:pt x="22559849" y="4065276"/>
                  </a:lnTo>
                  <a:lnTo>
                    <a:pt x="22559849" y="2613666"/>
                  </a:lnTo>
                  <a:lnTo>
                    <a:pt x="23187230" y="1677676"/>
                  </a:lnTo>
                  <a:lnTo>
                    <a:pt x="23187230" y="834396"/>
                  </a:lnTo>
                  <a:close/>
                  <a:moveTo>
                    <a:pt x="23146589" y="1664976"/>
                  </a:moveTo>
                  <a:lnTo>
                    <a:pt x="22519208" y="2600966"/>
                  </a:lnTo>
                  <a:lnTo>
                    <a:pt x="22519208" y="4075436"/>
                  </a:lnTo>
                  <a:lnTo>
                    <a:pt x="22604299" y="4216406"/>
                  </a:lnTo>
                  <a:lnTo>
                    <a:pt x="22604299" y="27132466"/>
                  </a:lnTo>
                  <a:lnTo>
                    <a:pt x="22402369" y="27334398"/>
                  </a:lnTo>
                  <a:cubicBezTo>
                    <a:pt x="22304578" y="27432187"/>
                    <a:pt x="22204249" y="27532516"/>
                    <a:pt x="22093758" y="27643008"/>
                  </a:cubicBezTo>
                  <a:lnTo>
                    <a:pt x="21976919" y="27759848"/>
                  </a:lnTo>
                  <a:lnTo>
                    <a:pt x="7406640" y="27759848"/>
                  </a:lnTo>
                  <a:lnTo>
                    <a:pt x="5834380" y="27218826"/>
                  </a:lnTo>
                  <a:lnTo>
                    <a:pt x="5831840" y="27218826"/>
                  </a:lnTo>
                  <a:cubicBezTo>
                    <a:pt x="5831840" y="27218826"/>
                    <a:pt x="872490" y="27218826"/>
                    <a:pt x="872490" y="27218826"/>
                  </a:cubicBezTo>
                  <a:lnTo>
                    <a:pt x="872490" y="2247906"/>
                  </a:lnTo>
                  <a:lnTo>
                    <a:pt x="330200" y="1869446"/>
                  </a:lnTo>
                  <a:lnTo>
                    <a:pt x="330200" y="871226"/>
                  </a:lnTo>
                  <a:lnTo>
                    <a:pt x="7418070" y="871226"/>
                  </a:lnTo>
                  <a:lnTo>
                    <a:pt x="8992870" y="328936"/>
                  </a:lnTo>
                  <a:lnTo>
                    <a:pt x="14481380" y="328936"/>
                  </a:lnTo>
                  <a:lnTo>
                    <a:pt x="16053639" y="869956"/>
                  </a:lnTo>
                  <a:lnTo>
                    <a:pt x="16056180" y="869956"/>
                  </a:lnTo>
                  <a:cubicBezTo>
                    <a:pt x="16056180" y="869956"/>
                    <a:pt x="23145319" y="869956"/>
                    <a:pt x="23145319" y="869956"/>
                  </a:cubicBezTo>
                  <a:lnTo>
                    <a:pt x="23145319" y="1663706"/>
                  </a:lnTo>
                  <a:close/>
                  <a:moveTo>
                    <a:pt x="23476789" y="1765306"/>
                  </a:moveTo>
                  <a:lnTo>
                    <a:pt x="23476789" y="488956"/>
                  </a:lnTo>
                  <a:cubicBezTo>
                    <a:pt x="23476789" y="284486"/>
                    <a:pt x="23347249" y="99066"/>
                    <a:pt x="23155478" y="29216"/>
                  </a:cubicBezTo>
                  <a:cubicBezTo>
                    <a:pt x="23102139" y="8896"/>
                    <a:pt x="23044989" y="6"/>
                    <a:pt x="22986569" y="6"/>
                  </a:cubicBezTo>
                  <a:lnTo>
                    <a:pt x="9987280" y="6"/>
                  </a:lnTo>
                  <a:lnTo>
                    <a:pt x="490220" y="6"/>
                  </a:lnTo>
                  <a:cubicBezTo>
                    <a:pt x="219710" y="-1264"/>
                    <a:pt x="0" y="218446"/>
                    <a:pt x="0" y="488956"/>
                  </a:cubicBezTo>
                  <a:lnTo>
                    <a:pt x="0" y="1639576"/>
                  </a:lnTo>
                  <a:lnTo>
                    <a:pt x="0" y="27651898"/>
                  </a:lnTo>
                  <a:lnTo>
                    <a:pt x="2540" y="27651898"/>
                  </a:lnTo>
                  <a:cubicBezTo>
                    <a:pt x="17780" y="27795408"/>
                    <a:pt x="95250" y="27923676"/>
                    <a:pt x="215900" y="28006226"/>
                  </a:cubicBezTo>
                  <a:lnTo>
                    <a:pt x="219710" y="28008766"/>
                  </a:lnTo>
                  <a:cubicBezTo>
                    <a:pt x="240030" y="28022737"/>
                    <a:pt x="261620" y="28034166"/>
                    <a:pt x="284480" y="28044326"/>
                  </a:cubicBezTo>
                  <a:cubicBezTo>
                    <a:pt x="349250" y="28073537"/>
                    <a:pt x="417830" y="28088776"/>
                    <a:pt x="488950" y="28088776"/>
                  </a:cubicBezTo>
                  <a:lnTo>
                    <a:pt x="22114080" y="28088776"/>
                  </a:lnTo>
                  <a:lnTo>
                    <a:pt x="22313469" y="27889387"/>
                  </a:lnTo>
                  <a:cubicBezTo>
                    <a:pt x="22429040" y="27773816"/>
                    <a:pt x="22534449" y="27668408"/>
                    <a:pt x="22636049" y="27566808"/>
                  </a:cubicBezTo>
                  <a:lnTo>
                    <a:pt x="22733840" y="27469016"/>
                  </a:lnTo>
                  <a:cubicBezTo>
                    <a:pt x="22928149" y="27274708"/>
                    <a:pt x="23117380" y="27085476"/>
                    <a:pt x="23351060" y="26851798"/>
                  </a:cubicBezTo>
                  <a:lnTo>
                    <a:pt x="23476790" y="26726066"/>
                  </a:lnTo>
                  <a:lnTo>
                    <a:pt x="23476790" y="5020316"/>
                  </a:lnTo>
                  <a:lnTo>
                    <a:pt x="22849410" y="3982726"/>
                  </a:lnTo>
                  <a:lnTo>
                    <a:pt x="22849410" y="2701296"/>
                  </a:lnTo>
                  <a:lnTo>
                    <a:pt x="23476790" y="1765306"/>
                  </a:lnTo>
                  <a:close/>
                  <a:moveTo>
                    <a:pt x="23439958" y="5030476"/>
                  </a:moveTo>
                  <a:lnTo>
                    <a:pt x="23439958" y="26710826"/>
                  </a:lnTo>
                  <a:lnTo>
                    <a:pt x="23325658" y="26825126"/>
                  </a:lnTo>
                  <a:cubicBezTo>
                    <a:pt x="23093248" y="27057537"/>
                    <a:pt x="22904019" y="27248037"/>
                    <a:pt x="22708439" y="27442348"/>
                  </a:cubicBezTo>
                  <a:lnTo>
                    <a:pt x="22610648" y="27540137"/>
                  </a:lnTo>
                  <a:cubicBezTo>
                    <a:pt x="22509048" y="27641737"/>
                    <a:pt x="22403639" y="27747148"/>
                    <a:pt x="22288069" y="27862716"/>
                  </a:cubicBezTo>
                  <a:lnTo>
                    <a:pt x="22100108" y="28050676"/>
                  </a:lnTo>
                  <a:lnTo>
                    <a:pt x="490220" y="28050676"/>
                  </a:lnTo>
                  <a:cubicBezTo>
                    <a:pt x="424180" y="28050676"/>
                    <a:pt x="360680" y="28036708"/>
                    <a:pt x="300990" y="28008766"/>
                  </a:cubicBezTo>
                  <a:cubicBezTo>
                    <a:pt x="280670" y="27998608"/>
                    <a:pt x="260350" y="27988448"/>
                    <a:pt x="241300" y="27975748"/>
                  </a:cubicBezTo>
                  <a:lnTo>
                    <a:pt x="237490" y="27973208"/>
                  </a:lnTo>
                  <a:cubicBezTo>
                    <a:pt x="121920" y="27894466"/>
                    <a:pt x="49530" y="27770008"/>
                    <a:pt x="39370" y="27630308"/>
                  </a:cubicBezTo>
                  <a:lnTo>
                    <a:pt x="39370" y="27612526"/>
                  </a:lnTo>
                  <a:lnTo>
                    <a:pt x="38100" y="27612526"/>
                  </a:lnTo>
                  <a:lnTo>
                    <a:pt x="38100" y="1710696"/>
                  </a:lnTo>
                  <a:cubicBezTo>
                    <a:pt x="38100" y="1710696"/>
                    <a:pt x="38100" y="488956"/>
                    <a:pt x="38100" y="488956"/>
                  </a:cubicBezTo>
                  <a:cubicBezTo>
                    <a:pt x="38100" y="240036"/>
                    <a:pt x="241300" y="36836"/>
                    <a:pt x="490220" y="36836"/>
                  </a:cubicBezTo>
                  <a:lnTo>
                    <a:pt x="9697720" y="36836"/>
                  </a:lnTo>
                  <a:cubicBezTo>
                    <a:pt x="9697720" y="36836"/>
                    <a:pt x="22987839" y="36836"/>
                    <a:pt x="22987839" y="36836"/>
                  </a:cubicBezTo>
                  <a:cubicBezTo>
                    <a:pt x="23041180" y="36836"/>
                    <a:pt x="23093249" y="45726"/>
                    <a:pt x="23142780" y="64776"/>
                  </a:cubicBezTo>
                  <a:cubicBezTo>
                    <a:pt x="23320580" y="129546"/>
                    <a:pt x="23438689" y="299726"/>
                    <a:pt x="23438689" y="488956"/>
                  </a:cubicBezTo>
                  <a:lnTo>
                    <a:pt x="23438689" y="1753876"/>
                  </a:lnTo>
                  <a:lnTo>
                    <a:pt x="22811308" y="2689866"/>
                  </a:lnTo>
                  <a:lnTo>
                    <a:pt x="22811308" y="3994156"/>
                  </a:lnTo>
                  <a:lnTo>
                    <a:pt x="23438689" y="5031746"/>
                  </a:lnTo>
                  <a:close/>
                </a:path>
              </a:pathLst>
            </a:custGeom>
            <a:solidFill>
              <a:srgbClr val="7CAAD8"/>
            </a:solidFill>
          </p:spPr>
        </p:sp>
      </p:grpSp>
      <p:sp>
        <p:nvSpPr>
          <p:cNvPr name="TextBox 5" id="5"/>
          <p:cNvSpPr txBox="true"/>
          <p:nvPr/>
        </p:nvSpPr>
        <p:spPr>
          <a:xfrm rot="0">
            <a:off x="1564072" y="3027680"/>
            <a:ext cx="11734616" cy="7402195"/>
          </a:xfrm>
          <a:prstGeom prst="rect">
            <a:avLst/>
          </a:prstGeom>
        </p:spPr>
        <p:txBody>
          <a:bodyPr anchor="t" rtlCol="false" tIns="0" lIns="0" bIns="0" rIns="0">
            <a:spAutoFit/>
          </a:bodyPr>
          <a:lstStyle/>
          <a:p>
            <a:pPr algn="l">
              <a:lnSpc>
                <a:spcPts val="3079"/>
              </a:lnSpc>
            </a:pPr>
            <a:r>
              <a:rPr lang="en-US" sz="2199" b="true">
                <a:solidFill>
                  <a:srgbClr val="000000"/>
                </a:solidFill>
                <a:latin typeface="Canva Sans Bold"/>
                <a:ea typeface="Canva Sans Bold"/>
                <a:cs typeface="Canva Sans Bold"/>
                <a:sym typeface="Canva Sans Bold"/>
              </a:rPr>
              <a:t>1. The Core Infrastructure</a:t>
            </a:r>
          </a:p>
          <a:p>
            <a:pPr algn="l" marL="474976" indent="-237488" lvl="1">
              <a:lnSpc>
                <a:spcPts val="3079"/>
              </a:lnSpc>
              <a:buFont typeface="Arial"/>
              <a:buChar char="•"/>
            </a:pPr>
            <a:r>
              <a:rPr lang="en-US" b="true" sz="2199">
                <a:solidFill>
                  <a:srgbClr val="000000"/>
                </a:solidFill>
                <a:latin typeface="Canva Sans Bold"/>
                <a:ea typeface="Canva Sans Bold"/>
                <a:cs typeface="Canva Sans Bold"/>
                <a:sym typeface="Canva Sans Bold"/>
              </a:rPr>
              <a:t>Python:</a:t>
            </a:r>
            <a:r>
              <a:rPr lang="en-US" sz="2199">
                <a:solidFill>
                  <a:srgbClr val="000000"/>
                </a:solidFill>
                <a:latin typeface="Canva Sans"/>
                <a:ea typeface="Canva Sans"/>
                <a:cs typeface="Canva Sans"/>
                <a:sym typeface="Canva Sans"/>
              </a:rPr>
              <a:t> The foundational language currently driving local automation, system monitoring, and </a:t>
            </a:r>
            <a:r>
              <a:rPr lang="en-US" sz="2199">
                <a:solidFill>
                  <a:srgbClr val="000000"/>
                </a:solidFill>
                <a:latin typeface="Canva Sans"/>
                <a:ea typeface="Canva Sans"/>
                <a:cs typeface="Canva Sans"/>
                <a:sym typeface="Canva Sans"/>
              </a:rPr>
              <a:t>AI workflows.</a:t>
            </a:r>
          </a:p>
          <a:p>
            <a:pPr algn="l" marL="474976" indent="-237488" lvl="1">
              <a:lnSpc>
                <a:spcPts val="3079"/>
              </a:lnSpc>
              <a:buFont typeface="Arial"/>
              <a:buChar char="•"/>
            </a:pPr>
            <a:r>
              <a:rPr lang="en-US" b="true" sz="2199">
                <a:solidFill>
                  <a:srgbClr val="000000"/>
                </a:solidFill>
                <a:latin typeface="Canva Sans Bold"/>
                <a:ea typeface="Canva Sans Bold"/>
                <a:cs typeface="Canva Sans Bold"/>
                <a:sym typeface="Canva Sans Bold"/>
              </a:rPr>
              <a:t>FastAPI:</a:t>
            </a:r>
            <a:r>
              <a:rPr lang="en-US" sz="2199">
                <a:solidFill>
                  <a:srgbClr val="000000"/>
                </a:solidFill>
                <a:latin typeface="Canva Sans"/>
                <a:ea typeface="Canva Sans"/>
                <a:cs typeface="Canva Sans"/>
                <a:sym typeface="Canva Sans"/>
              </a:rPr>
              <a:t> Provides high-performance, low-latency APIs connecting all active system components.</a:t>
            </a:r>
          </a:p>
          <a:p>
            <a:pPr algn="l" marL="474976" indent="-237488" lvl="1">
              <a:lnSpc>
                <a:spcPts val="3079"/>
              </a:lnSpc>
              <a:buFont typeface="Arial"/>
              <a:buChar char="•"/>
            </a:pPr>
            <a:r>
              <a:rPr lang="en-US" b="true" sz="2199">
                <a:solidFill>
                  <a:srgbClr val="000000"/>
                </a:solidFill>
                <a:latin typeface="Canva Sans Bold"/>
                <a:ea typeface="Canva Sans Bold"/>
                <a:cs typeface="Canva Sans Bold"/>
                <a:sym typeface="Canva Sans Bold"/>
              </a:rPr>
              <a:t>PostgreSQL:</a:t>
            </a:r>
            <a:r>
              <a:rPr lang="en-US" sz="2199">
                <a:solidFill>
                  <a:srgbClr val="000000"/>
                </a:solidFill>
                <a:latin typeface="Canva Sans"/>
                <a:ea typeface="Canva Sans"/>
                <a:cs typeface="Canva Sans"/>
                <a:sym typeface="Canva Sans"/>
              </a:rPr>
              <a:t> The central state machine securely storing tasks, activity history, and user memories.</a:t>
            </a:r>
          </a:p>
          <a:p>
            <a:pPr algn="l" marL="474976" indent="-237488" lvl="1">
              <a:lnSpc>
                <a:spcPts val="3079"/>
              </a:lnSpc>
              <a:buFont typeface="Arial"/>
              <a:buChar char="•"/>
            </a:pPr>
            <a:r>
              <a:rPr lang="en-US" b="true" sz="2199">
                <a:solidFill>
                  <a:srgbClr val="000000"/>
                </a:solidFill>
                <a:latin typeface="Canva Sans Bold"/>
                <a:ea typeface="Canva Sans Bold"/>
                <a:cs typeface="Canva Sans Bold"/>
                <a:sym typeface="Canva Sans Bold"/>
              </a:rPr>
              <a:t>Microsoft Graph API: </a:t>
            </a:r>
            <a:r>
              <a:rPr lang="en-US" sz="2199">
                <a:solidFill>
                  <a:srgbClr val="000000"/>
                </a:solidFill>
                <a:latin typeface="Canva Sans"/>
                <a:ea typeface="Canva Sans"/>
                <a:cs typeface="Canva Sans"/>
                <a:sym typeface="Canva Sans"/>
              </a:rPr>
              <a:t>The integration layer connecting the agent directly to Microsoft Teams, Outlook, and Calendar to seamlessly extract meeting context and commitments.</a:t>
            </a:r>
          </a:p>
          <a:p>
            <a:pPr algn="l">
              <a:lnSpc>
                <a:spcPts val="3079"/>
              </a:lnSpc>
            </a:pPr>
            <a:r>
              <a:rPr lang="en-US" b="true" sz="2199">
                <a:solidFill>
                  <a:srgbClr val="000000"/>
                </a:solidFill>
                <a:latin typeface="Canva Sans Bold"/>
                <a:ea typeface="Canva Sans Bold"/>
                <a:cs typeface="Canva Sans Bold"/>
                <a:sym typeface="Canva Sans Bold"/>
              </a:rPr>
              <a:t>2. The 4-Layer Modular Architecture</a:t>
            </a:r>
          </a:p>
          <a:p>
            <a:pPr algn="l" marL="474976" indent="-237488" lvl="1">
              <a:lnSpc>
                <a:spcPts val="3079"/>
              </a:lnSpc>
              <a:buFont typeface="Arial"/>
              <a:buChar char="•"/>
            </a:pPr>
            <a:r>
              <a:rPr lang="en-US" b="true" sz="2199">
                <a:solidFill>
                  <a:srgbClr val="000000"/>
                </a:solidFill>
                <a:latin typeface="Canva Sans Bold"/>
                <a:ea typeface="Canva Sans Bold"/>
                <a:cs typeface="Canva Sans Bold"/>
                <a:sym typeface="Canva Sans Bold"/>
              </a:rPr>
              <a:t>Context Layer: </a:t>
            </a:r>
            <a:r>
              <a:rPr lang="en-US" sz="2199">
                <a:solidFill>
                  <a:srgbClr val="000000"/>
                </a:solidFill>
                <a:latin typeface="Canva Sans"/>
                <a:ea typeface="Canva Sans"/>
                <a:cs typeface="Canva Sans"/>
                <a:sym typeface="Canva Sans"/>
              </a:rPr>
              <a:t>A local Python daemon monitoring OS activity (VS Code, Teams) to map focus patterns.</a:t>
            </a:r>
          </a:p>
          <a:p>
            <a:pPr algn="l" marL="474976" indent="-237488" lvl="1">
              <a:lnSpc>
                <a:spcPts val="3079"/>
              </a:lnSpc>
              <a:buFont typeface="Arial"/>
              <a:buChar char="•"/>
            </a:pPr>
            <a:r>
              <a:rPr lang="en-US" b="true" sz="2199">
                <a:solidFill>
                  <a:srgbClr val="000000"/>
                </a:solidFill>
                <a:latin typeface="Canva Sans Bold"/>
                <a:ea typeface="Canva Sans Bold"/>
                <a:cs typeface="Canva Sans Bold"/>
                <a:sym typeface="Canva Sans Bold"/>
              </a:rPr>
              <a:t>Memory System:</a:t>
            </a:r>
            <a:r>
              <a:rPr lang="en-US" sz="2199">
                <a:solidFill>
                  <a:srgbClr val="000000"/>
                </a:solidFill>
                <a:latin typeface="Canva Sans"/>
                <a:ea typeface="Canva Sans"/>
                <a:cs typeface="Canva Sans"/>
                <a:sym typeface="Canva Sans"/>
              </a:rPr>
              <a:t> Securely archives "Panic Dumps," commitments, and notes.</a:t>
            </a:r>
          </a:p>
          <a:p>
            <a:pPr algn="l" marL="474976" indent="-237488" lvl="1">
              <a:lnSpc>
                <a:spcPts val="3079"/>
              </a:lnSpc>
              <a:buFont typeface="Arial"/>
              <a:buChar char="•"/>
            </a:pPr>
            <a:r>
              <a:rPr lang="en-US" b="true" sz="2199">
                <a:solidFill>
                  <a:srgbClr val="000000"/>
                </a:solidFill>
                <a:latin typeface="Canva Sans Bold"/>
                <a:ea typeface="Canva Sans Bold"/>
                <a:cs typeface="Canva Sans Bold"/>
                <a:sym typeface="Canva Sans Bold"/>
              </a:rPr>
              <a:t>Brain Layer:</a:t>
            </a:r>
            <a:r>
              <a:rPr lang="en-US" sz="2199">
                <a:solidFill>
                  <a:srgbClr val="000000"/>
                </a:solidFill>
                <a:latin typeface="Canva Sans"/>
                <a:ea typeface="Canva Sans"/>
                <a:cs typeface="Canva Sans"/>
                <a:sym typeface="Canva Sans"/>
              </a:rPr>
              <a:t> The central intelligence hub aggregating active context to understand user intent.</a:t>
            </a:r>
          </a:p>
          <a:p>
            <a:pPr algn="l" marL="474976" indent="-237488" lvl="1">
              <a:lnSpc>
                <a:spcPts val="3079"/>
              </a:lnSpc>
              <a:buFont typeface="Arial"/>
              <a:buChar char="•"/>
            </a:pPr>
            <a:r>
              <a:rPr lang="en-US" b="true" sz="2199">
                <a:solidFill>
                  <a:srgbClr val="000000"/>
                </a:solidFill>
                <a:latin typeface="Canva Sans Bold"/>
                <a:ea typeface="Canva Sans Bold"/>
                <a:cs typeface="Canva Sans Bold"/>
                <a:sym typeface="Canva Sans Bold"/>
              </a:rPr>
              <a:t>Agent Layer: </a:t>
            </a:r>
            <a:r>
              <a:rPr lang="en-US" sz="2199">
                <a:solidFill>
                  <a:srgbClr val="000000"/>
                </a:solidFill>
                <a:latin typeface="Canva Sans"/>
                <a:ea typeface="Canva Sans"/>
                <a:cs typeface="Canva Sans"/>
                <a:sym typeface="Canva Sans"/>
              </a:rPr>
              <a:t>The execution layer that transforms the Brain’s reasoning into actionable outputs.</a:t>
            </a:r>
          </a:p>
          <a:p>
            <a:pPr algn="l">
              <a:lnSpc>
                <a:spcPts val="3079"/>
              </a:lnSpc>
            </a:pPr>
          </a:p>
        </p:txBody>
      </p:sp>
      <p:sp>
        <p:nvSpPr>
          <p:cNvPr name="TextBox 6" id="6"/>
          <p:cNvSpPr txBox="true"/>
          <p:nvPr/>
        </p:nvSpPr>
        <p:spPr>
          <a:xfrm rot="0">
            <a:off x="1315441" y="876300"/>
            <a:ext cx="14009936" cy="1368417"/>
          </a:xfrm>
          <a:prstGeom prst="rect">
            <a:avLst/>
          </a:prstGeom>
        </p:spPr>
        <p:txBody>
          <a:bodyPr anchor="t" rtlCol="false" tIns="0" lIns="0" bIns="0" rIns="0">
            <a:spAutoFit/>
          </a:bodyPr>
          <a:lstStyle/>
          <a:p>
            <a:pPr algn="ctr">
              <a:lnSpc>
                <a:spcPts val="11200"/>
              </a:lnSpc>
            </a:pPr>
            <a:r>
              <a:rPr lang="en-US" sz="8000" b="true">
                <a:solidFill>
                  <a:srgbClr val="7CAAD8"/>
                </a:solidFill>
                <a:latin typeface="Canva Sans Bold"/>
                <a:ea typeface="Canva Sans Bold"/>
                <a:cs typeface="Canva Sans Bold"/>
                <a:sym typeface="Canva Sans Bold"/>
              </a:rPr>
              <a:t>AI Architecture &amp; Tech Stack</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234586" y="3714162"/>
            <a:ext cx="11870204" cy="3496945"/>
          </a:xfrm>
          <a:prstGeom prst="rect">
            <a:avLst/>
          </a:prstGeom>
        </p:spPr>
        <p:txBody>
          <a:bodyPr anchor="t" rtlCol="false" tIns="0" lIns="0" bIns="0" rIns="0">
            <a:spAutoFit/>
          </a:bodyPr>
          <a:lstStyle/>
          <a:p>
            <a:pPr algn="l">
              <a:lnSpc>
                <a:spcPts val="3079"/>
              </a:lnSpc>
            </a:pPr>
            <a:r>
              <a:rPr lang="en-US" sz="2199" b="true">
                <a:solidFill>
                  <a:srgbClr val="000000"/>
                </a:solidFill>
                <a:latin typeface="Canva Sans Bold"/>
                <a:ea typeface="Canva Sans Bold"/>
                <a:cs typeface="Canva Sans Bold"/>
                <a:sym typeface="Canva Sans Bold"/>
              </a:rPr>
              <a:t>3. R&amp;D &amp; </a:t>
            </a:r>
            <a:r>
              <a:rPr lang="en-US" b="true" sz="2199">
                <a:solidFill>
                  <a:srgbClr val="000000"/>
                </a:solidFill>
                <a:latin typeface="Canva Sans Bold"/>
                <a:ea typeface="Canva Sans Bold"/>
                <a:cs typeface="Canva Sans Bold"/>
                <a:sym typeface="Canva Sans Bold"/>
              </a:rPr>
              <a:t>Architectural Roadmap</a:t>
            </a:r>
          </a:p>
          <a:p>
            <a:pPr algn="l" marL="474976" indent="-237488" lvl="1">
              <a:lnSpc>
                <a:spcPts val="3079"/>
              </a:lnSpc>
              <a:buFont typeface="Arial"/>
              <a:buChar char="•"/>
            </a:pPr>
            <a:r>
              <a:rPr lang="en-US" b="true" sz="2199">
                <a:solidFill>
                  <a:srgbClr val="000000"/>
                </a:solidFill>
                <a:latin typeface="Canva Sans Bold"/>
                <a:ea typeface="Canva Sans Bold"/>
                <a:cs typeface="Canva Sans Bold"/>
                <a:sym typeface="Canva Sans Bold"/>
              </a:rPr>
              <a:t>Agentic Frameworks:</a:t>
            </a:r>
            <a:r>
              <a:rPr lang="en-US" sz="2199">
                <a:solidFill>
                  <a:srgbClr val="000000"/>
                </a:solidFill>
                <a:latin typeface="Canva Sans"/>
                <a:ea typeface="Canva Sans"/>
                <a:cs typeface="Canva Sans"/>
                <a:sym typeface="Canva Sans"/>
              </a:rPr>
              <a:t> Actively exploring Addy Osmani’s repositories and Microsoft's AI open-source projects as technical references for our planned hierarchical agent implementation.</a:t>
            </a:r>
          </a:p>
          <a:p>
            <a:pPr algn="l" marL="474976" indent="-237488" lvl="1">
              <a:lnSpc>
                <a:spcPts val="3079"/>
              </a:lnSpc>
              <a:buFont typeface="Arial"/>
              <a:buChar char="•"/>
            </a:pPr>
            <a:r>
              <a:rPr lang="en-US" b="true" sz="2199">
                <a:solidFill>
                  <a:srgbClr val="000000"/>
                </a:solidFill>
                <a:latin typeface="Canva Sans Bold"/>
                <a:ea typeface="Canva Sans Bold"/>
                <a:cs typeface="Canva Sans Bold"/>
                <a:sym typeface="Canva Sans Bold"/>
              </a:rPr>
              <a:t>System Telemetry:</a:t>
            </a:r>
            <a:r>
              <a:rPr lang="en-US" sz="2199">
                <a:solidFill>
                  <a:srgbClr val="000000"/>
                </a:solidFill>
                <a:latin typeface="Canva Sans"/>
                <a:ea typeface="Canva Sans"/>
                <a:cs typeface="Canva Sans"/>
                <a:sym typeface="Canva Sans"/>
              </a:rPr>
              <a:t> Successfully architected the local OS daemon using Google technical documentation as a guide.</a:t>
            </a:r>
          </a:p>
          <a:p>
            <a:pPr algn="l" marL="474976" indent="-237488" lvl="1">
              <a:lnSpc>
                <a:spcPts val="3079"/>
              </a:lnSpc>
              <a:buFont typeface="Arial"/>
              <a:buChar char="•"/>
            </a:pPr>
            <a:r>
              <a:rPr lang="en-US" b="true" sz="2199">
                <a:solidFill>
                  <a:srgbClr val="000000"/>
                </a:solidFill>
                <a:latin typeface="Canva Sans Bold"/>
                <a:ea typeface="Canva Sans Bold"/>
                <a:cs typeface="Canva Sans Bold"/>
                <a:sym typeface="Canva Sans Bold"/>
              </a:rPr>
              <a:t>Applied Orchestration:</a:t>
            </a:r>
            <a:r>
              <a:rPr lang="en-US" sz="2199">
                <a:solidFill>
                  <a:srgbClr val="000000"/>
                </a:solidFill>
                <a:latin typeface="Canva Sans"/>
                <a:ea typeface="Canva Sans"/>
                <a:cs typeface="Canva Sans"/>
                <a:sym typeface="Canva Sans"/>
              </a:rPr>
              <a:t> Using CampusX engineering content to design the upcoming transition from rule-based logic to dynamic agent loops.</a:t>
            </a:r>
          </a:p>
          <a:p>
            <a:pPr algn="l">
              <a:lnSpc>
                <a:spcPts val="3079"/>
              </a:lnSpc>
            </a:pPr>
          </a:p>
        </p:txBody>
      </p:sp>
      <p:sp>
        <p:nvSpPr>
          <p:cNvPr name="TextBox 3" id="3"/>
          <p:cNvSpPr txBox="true"/>
          <p:nvPr/>
        </p:nvSpPr>
        <p:spPr>
          <a:xfrm rot="0">
            <a:off x="2234586" y="866775"/>
            <a:ext cx="13573546" cy="1434459"/>
          </a:xfrm>
          <a:prstGeom prst="rect">
            <a:avLst/>
          </a:prstGeom>
        </p:spPr>
        <p:txBody>
          <a:bodyPr anchor="t" rtlCol="false" tIns="0" lIns="0" bIns="0" rIns="0">
            <a:spAutoFit/>
          </a:bodyPr>
          <a:lstStyle/>
          <a:p>
            <a:pPr algn="ctr">
              <a:lnSpc>
                <a:spcPts val="11760"/>
              </a:lnSpc>
            </a:pPr>
            <a:r>
              <a:rPr lang="en-US" b="true" sz="8400">
                <a:solidFill>
                  <a:srgbClr val="97D0E2"/>
                </a:solidFill>
                <a:latin typeface="Canva Sans Bold"/>
                <a:ea typeface="Canva Sans Bold"/>
                <a:cs typeface="Canva Sans Bold"/>
                <a:sym typeface="Canva Sans Bold"/>
              </a:rPr>
              <a:t>Learnings and exploration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466895" y="3551171"/>
            <a:ext cx="5712329" cy="6142234"/>
          </a:xfrm>
          <a:custGeom>
            <a:avLst/>
            <a:gdLst/>
            <a:ahLst/>
            <a:cxnLst/>
            <a:rect r="r" b="b" t="t" l="l"/>
            <a:pathLst>
              <a:path h="6142234" w="5712329">
                <a:moveTo>
                  <a:pt x="0" y="0"/>
                </a:moveTo>
                <a:lnTo>
                  <a:pt x="5712329" y="0"/>
                </a:lnTo>
                <a:lnTo>
                  <a:pt x="5712329" y="6142234"/>
                </a:lnTo>
                <a:lnTo>
                  <a:pt x="0" y="6142234"/>
                </a:lnTo>
                <a:lnTo>
                  <a:pt x="0" y="0"/>
                </a:lnTo>
                <a:close/>
              </a:path>
            </a:pathLst>
          </a:custGeom>
          <a:blipFill>
            <a:blip r:embed="rId2"/>
            <a:stretch>
              <a:fillRect l="-97839" t="-505" r="0" b="0"/>
            </a:stretch>
          </a:blipFill>
        </p:spPr>
      </p:sp>
      <p:sp>
        <p:nvSpPr>
          <p:cNvPr name="TextBox 3" id="3"/>
          <p:cNvSpPr txBox="true"/>
          <p:nvPr/>
        </p:nvSpPr>
        <p:spPr>
          <a:xfrm rot="0">
            <a:off x="6080171" y="995677"/>
            <a:ext cx="5723632" cy="1566544"/>
          </a:xfrm>
          <a:prstGeom prst="rect">
            <a:avLst/>
          </a:prstGeom>
        </p:spPr>
        <p:txBody>
          <a:bodyPr anchor="t" rtlCol="false" tIns="0" lIns="0" bIns="0" rIns="0">
            <a:spAutoFit/>
          </a:bodyPr>
          <a:lstStyle/>
          <a:p>
            <a:pPr algn="ctr">
              <a:lnSpc>
                <a:spcPts val="12880"/>
              </a:lnSpc>
            </a:pPr>
            <a:r>
              <a:rPr lang="en-US" b="true" sz="9200">
                <a:solidFill>
                  <a:srgbClr val="7CAAD8"/>
                </a:solidFill>
                <a:latin typeface="Canva Sans Bold"/>
                <a:ea typeface="Canva Sans Bold"/>
                <a:cs typeface="Canva Sans Bold"/>
                <a:sym typeface="Canva Sans Bold"/>
              </a:rPr>
              <a:t>Examples </a:t>
            </a:r>
          </a:p>
        </p:txBody>
      </p:sp>
      <p:sp>
        <p:nvSpPr>
          <p:cNvPr name="TextBox 4" id="4"/>
          <p:cNvSpPr txBox="true"/>
          <p:nvPr/>
        </p:nvSpPr>
        <p:spPr>
          <a:xfrm rot="0">
            <a:off x="733450" y="3291086"/>
            <a:ext cx="11637112" cy="7132320"/>
          </a:xfrm>
          <a:prstGeom prst="rect">
            <a:avLst/>
          </a:prstGeom>
        </p:spPr>
        <p:txBody>
          <a:bodyPr anchor="t" rtlCol="false" tIns="0" lIns="0" bIns="0" rIns="0">
            <a:spAutoFit/>
          </a:bodyPr>
          <a:lstStyle/>
          <a:p>
            <a:pPr algn="l">
              <a:lnSpc>
                <a:spcPts val="3780"/>
              </a:lnSpc>
            </a:pPr>
            <a:r>
              <a:rPr lang="en-US" sz="2700" b="true">
                <a:solidFill>
                  <a:srgbClr val="000000"/>
                </a:solidFill>
                <a:latin typeface="Canva Sans Bold"/>
                <a:ea typeface="Canva Sans Bold"/>
                <a:cs typeface="Canva Sans Bold"/>
                <a:sym typeface="Canva Sans Bold"/>
              </a:rPr>
              <a:t>1. The "Panic Dump" (Unstructured to Structured)</a:t>
            </a:r>
          </a:p>
          <a:p>
            <a:pPr algn="l" marL="582933" indent="-291467" lvl="1">
              <a:lnSpc>
                <a:spcPts val="3780"/>
              </a:lnSpc>
              <a:buFont typeface="Arial"/>
              <a:buChar char="•"/>
            </a:pPr>
            <a:r>
              <a:rPr lang="en-US" b="true" sz="2700">
                <a:solidFill>
                  <a:srgbClr val="000000"/>
                </a:solidFill>
                <a:latin typeface="Canva Sans Bold"/>
                <a:ea typeface="Canva Sans Bold"/>
                <a:cs typeface="Canva Sans Bold"/>
                <a:sym typeface="Canva Sans Bold"/>
              </a:rPr>
              <a:t>The User Does: </a:t>
            </a:r>
            <a:r>
              <a:rPr lang="en-US" sz="2700">
                <a:solidFill>
                  <a:srgbClr val="000000"/>
                </a:solidFill>
                <a:latin typeface="Canva Sans"/>
                <a:ea typeface="Canva Sans"/>
                <a:cs typeface="Canva Sans"/>
                <a:sym typeface="Canva Sans"/>
              </a:rPr>
              <a:t>Types a messy, stressed note: "Meeting with </a:t>
            </a:r>
            <a:r>
              <a:rPr lang="en-US" sz="2700">
                <a:solidFill>
                  <a:srgbClr val="000000"/>
                </a:solidFill>
                <a:latin typeface="Canva Sans"/>
                <a:ea typeface="Canva Sans"/>
                <a:cs typeface="Canva Sans"/>
                <a:sym typeface="Canva Sans"/>
              </a:rPr>
              <a:t>Aditya went long, need to fix the auth_router bug before Friday and ping Sarah for the API keys."</a:t>
            </a:r>
          </a:p>
          <a:p>
            <a:pPr algn="l" marL="582933" indent="-291467" lvl="1">
              <a:lnSpc>
                <a:spcPts val="3780"/>
              </a:lnSpc>
              <a:buFont typeface="Arial"/>
              <a:buChar char="•"/>
            </a:pPr>
            <a:r>
              <a:rPr lang="en-US" b="true" sz="2700">
                <a:solidFill>
                  <a:srgbClr val="000000"/>
                </a:solidFill>
                <a:latin typeface="Canva Sans Bold"/>
                <a:ea typeface="Canva Sans Bold"/>
                <a:cs typeface="Canva Sans Bold"/>
                <a:sym typeface="Canva Sans Bold"/>
              </a:rPr>
              <a:t>The Agent Does: </a:t>
            </a:r>
            <a:r>
              <a:rPr lang="en-US" sz="2700">
                <a:solidFill>
                  <a:srgbClr val="000000"/>
                </a:solidFill>
                <a:latin typeface="Canva Sans"/>
                <a:ea typeface="Canva Sans"/>
                <a:cs typeface="Canva Sans"/>
                <a:sym typeface="Canva Sans"/>
              </a:rPr>
              <a:t>Instantly parses the intent. It logs a high-priority bug fix for auth_router, schedules a reminder for Thursday, and automatically drafts a Teams message to Sarah asking for the keys.</a:t>
            </a:r>
          </a:p>
          <a:p>
            <a:pPr algn="l">
              <a:lnSpc>
                <a:spcPts val="3780"/>
              </a:lnSpc>
            </a:pPr>
            <a:r>
              <a:rPr lang="en-US" b="true" sz="2700">
                <a:solidFill>
                  <a:srgbClr val="000000"/>
                </a:solidFill>
                <a:latin typeface="Canva Sans Bold"/>
                <a:ea typeface="Canva Sans Bold"/>
                <a:cs typeface="Canva Sans Bold"/>
                <a:sym typeface="Canva Sans Bold"/>
              </a:rPr>
              <a:t>2. The Meeting Handoff (Microsoft Graph Integration)</a:t>
            </a:r>
          </a:p>
          <a:p>
            <a:pPr algn="l" marL="582933" indent="-291467" lvl="1">
              <a:lnSpc>
                <a:spcPts val="3780"/>
              </a:lnSpc>
              <a:buFont typeface="Arial"/>
              <a:buChar char="•"/>
            </a:pPr>
            <a:r>
              <a:rPr lang="en-US" b="true" sz="2700">
                <a:solidFill>
                  <a:srgbClr val="000000"/>
                </a:solidFill>
                <a:latin typeface="Canva Sans Bold"/>
                <a:ea typeface="Canva Sans Bold"/>
                <a:cs typeface="Canva Sans Bold"/>
                <a:sym typeface="Canva Sans Bold"/>
              </a:rPr>
              <a:t>The User Does: </a:t>
            </a:r>
            <a:r>
              <a:rPr lang="en-US" sz="2700">
                <a:solidFill>
                  <a:srgbClr val="000000"/>
                </a:solidFill>
                <a:latin typeface="Canva Sans"/>
                <a:ea typeface="Canva Sans"/>
                <a:cs typeface="Canva Sans"/>
                <a:sym typeface="Canva Sans"/>
              </a:rPr>
              <a:t>Drops off a 45-minute Microsoft Teams call and immediately switches back to coding in VS Code.</a:t>
            </a:r>
          </a:p>
          <a:p>
            <a:pPr algn="l" marL="582933" indent="-291467" lvl="1">
              <a:lnSpc>
                <a:spcPts val="3780"/>
              </a:lnSpc>
              <a:buFont typeface="Arial"/>
              <a:buChar char="•"/>
            </a:pPr>
            <a:r>
              <a:rPr lang="en-US" b="true" sz="2700">
                <a:solidFill>
                  <a:srgbClr val="000000"/>
                </a:solidFill>
                <a:latin typeface="Canva Sans Bold"/>
                <a:ea typeface="Canva Sans Bold"/>
                <a:cs typeface="Canva Sans Bold"/>
                <a:sym typeface="Canva Sans Bold"/>
              </a:rPr>
              <a:t>The Agent Does:</a:t>
            </a:r>
            <a:r>
              <a:rPr lang="en-US" sz="2700">
                <a:solidFill>
                  <a:srgbClr val="000000"/>
                </a:solidFill>
                <a:latin typeface="Canva Sans"/>
                <a:ea typeface="Canva Sans"/>
                <a:cs typeface="Canva Sans"/>
                <a:sym typeface="Canva Sans"/>
              </a:rPr>
              <a:t> Detects the calendar event ended. It quietly pulls the meeting transcript, extracts the action items you promised, and queues them in your task list without interrupting your coding session.</a:t>
            </a:r>
          </a:p>
          <a:p>
            <a:pPr algn="l">
              <a:lnSpc>
                <a:spcPts val="3780"/>
              </a:lnSpc>
            </a:pP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46698" y="885825"/>
            <a:ext cx="15190577" cy="1203313"/>
          </a:xfrm>
          <a:prstGeom prst="rect">
            <a:avLst/>
          </a:prstGeom>
        </p:spPr>
        <p:txBody>
          <a:bodyPr anchor="t" rtlCol="false" tIns="0" lIns="0" bIns="0" rIns="0">
            <a:spAutoFit/>
          </a:bodyPr>
          <a:lstStyle/>
          <a:p>
            <a:pPr algn="ctr">
              <a:lnSpc>
                <a:spcPts val="9800"/>
              </a:lnSpc>
            </a:pPr>
            <a:r>
              <a:rPr lang="en-US" b="true" sz="7000">
                <a:solidFill>
                  <a:srgbClr val="7CAAD8"/>
                </a:solidFill>
                <a:latin typeface="Canva Sans Bold"/>
                <a:ea typeface="Canva Sans Bold"/>
                <a:cs typeface="Canva Sans Bold"/>
                <a:sym typeface="Canva Sans Bold"/>
              </a:rPr>
              <a:t>Current Progress &amp; Key Decisions</a:t>
            </a:r>
          </a:p>
        </p:txBody>
      </p:sp>
      <p:sp>
        <p:nvSpPr>
          <p:cNvPr name="TextBox 3" id="3"/>
          <p:cNvSpPr txBox="true"/>
          <p:nvPr/>
        </p:nvSpPr>
        <p:spPr>
          <a:xfrm rot="0">
            <a:off x="1857741" y="2941381"/>
            <a:ext cx="14572519" cy="7306310"/>
          </a:xfrm>
          <a:prstGeom prst="rect">
            <a:avLst/>
          </a:prstGeom>
        </p:spPr>
        <p:txBody>
          <a:bodyPr anchor="t" rtlCol="false" tIns="0" lIns="0" bIns="0" rIns="0">
            <a:spAutoFit/>
          </a:bodyPr>
          <a:lstStyle/>
          <a:p>
            <a:pPr algn="l">
              <a:lnSpc>
                <a:spcPts val="3640"/>
              </a:lnSpc>
            </a:pPr>
            <a:r>
              <a:rPr lang="en-US" sz="2600" b="true">
                <a:solidFill>
                  <a:srgbClr val="000000"/>
                </a:solidFill>
                <a:latin typeface="Canva Sans Bold"/>
                <a:ea typeface="Canva Sans Bold"/>
                <a:cs typeface="Canva Sans Bold"/>
                <a:sym typeface="Canva Sans Bold"/>
              </a:rPr>
              <a:t>1. What We Have Built (Progress)</a:t>
            </a:r>
          </a:p>
          <a:p>
            <a:pPr algn="l" marL="561341" indent="-280670" lvl="1">
              <a:lnSpc>
                <a:spcPts val="3640"/>
              </a:lnSpc>
              <a:buFont typeface="Arial"/>
              <a:buChar char="•"/>
            </a:pPr>
            <a:r>
              <a:rPr lang="en-US" b="true" sz="2600">
                <a:solidFill>
                  <a:srgbClr val="000000"/>
                </a:solidFill>
                <a:latin typeface="Canva Sans Bold"/>
                <a:ea typeface="Canva Sans Bold"/>
                <a:cs typeface="Canva Sans Bold"/>
                <a:sym typeface="Canva Sans Bold"/>
              </a:rPr>
              <a:t>Active Window Tracking:</a:t>
            </a:r>
            <a:r>
              <a:rPr lang="en-US" sz="2600">
                <a:solidFill>
                  <a:srgbClr val="000000"/>
                </a:solidFill>
                <a:latin typeface="Canva Sans"/>
                <a:ea typeface="Canva Sans"/>
                <a:cs typeface="Canva Sans"/>
                <a:sym typeface="Canva Sans"/>
              </a:rPr>
              <a:t> The app successfully tracks active windows and calculates focus time.</a:t>
            </a:r>
          </a:p>
          <a:p>
            <a:pPr algn="l" marL="561341" indent="-280670" lvl="1">
              <a:lnSpc>
                <a:spcPts val="3640"/>
              </a:lnSpc>
              <a:buFont typeface="Arial"/>
              <a:buChar char="•"/>
            </a:pPr>
            <a:r>
              <a:rPr lang="en-US" b="true" sz="2600">
                <a:solidFill>
                  <a:srgbClr val="000000"/>
                </a:solidFill>
                <a:latin typeface="Canva Sans Bold"/>
                <a:ea typeface="Canva Sans Bold"/>
                <a:cs typeface="Canva Sans Bold"/>
                <a:sym typeface="Canva Sans Bold"/>
              </a:rPr>
              <a:t>Task &amp; Memory Systems:</a:t>
            </a:r>
            <a:r>
              <a:rPr lang="en-US" sz="2600">
                <a:solidFill>
                  <a:srgbClr val="000000"/>
                </a:solidFill>
                <a:latin typeface="Canva Sans"/>
                <a:ea typeface="Canva Sans"/>
                <a:cs typeface="Canva Sans"/>
                <a:sym typeface="Canva Sans"/>
              </a:rPr>
              <a:t> The database can store tasks, save user notes, and block duplicate entries.</a:t>
            </a:r>
          </a:p>
          <a:p>
            <a:pPr algn="l" marL="561341" indent="-280670" lvl="1">
              <a:lnSpc>
                <a:spcPts val="3640"/>
              </a:lnSpc>
              <a:buFont typeface="Arial"/>
              <a:buChar char="•"/>
            </a:pPr>
            <a:r>
              <a:rPr lang="en-US" b="true" sz="2600">
                <a:solidFill>
                  <a:srgbClr val="000000"/>
                </a:solidFill>
                <a:latin typeface="Canva Sans Bold"/>
                <a:ea typeface="Canva Sans Bold"/>
                <a:cs typeface="Canva Sans Bold"/>
                <a:sym typeface="Canva Sans Bold"/>
              </a:rPr>
              <a:t>The "Panic Dump":</a:t>
            </a:r>
            <a:r>
              <a:rPr lang="en-US" sz="2600">
                <a:solidFill>
                  <a:srgbClr val="000000"/>
                </a:solidFill>
                <a:latin typeface="Canva Sans"/>
                <a:ea typeface="Canva Sans"/>
                <a:cs typeface="Canva Sans"/>
                <a:sym typeface="Canva Sans"/>
              </a:rPr>
              <a:t> Users can type messy, unstructured thoughts, and the system cleanly captures it for processing.</a:t>
            </a:r>
          </a:p>
          <a:p>
            <a:pPr algn="l">
              <a:lnSpc>
                <a:spcPts val="3640"/>
              </a:lnSpc>
            </a:pPr>
            <a:r>
              <a:rPr lang="en-US" b="true" sz="2600">
                <a:solidFill>
                  <a:srgbClr val="000000"/>
                </a:solidFill>
                <a:latin typeface="Canva Sans Bold"/>
                <a:ea typeface="Canva Sans Bold"/>
                <a:cs typeface="Canva Sans Bold"/>
                <a:sym typeface="Canva Sans Bold"/>
              </a:rPr>
              <a:t>2. Key Design Decisions</a:t>
            </a:r>
          </a:p>
          <a:p>
            <a:pPr algn="l" marL="561341" indent="-280670" lvl="1">
              <a:lnSpc>
                <a:spcPts val="3640"/>
              </a:lnSpc>
              <a:buFont typeface="Arial"/>
              <a:buChar char="•"/>
            </a:pPr>
            <a:r>
              <a:rPr lang="en-US" b="true" sz="2600">
                <a:solidFill>
                  <a:srgbClr val="000000"/>
                </a:solidFill>
                <a:latin typeface="Canva Sans Bold"/>
                <a:ea typeface="Canva Sans Bold"/>
                <a:cs typeface="Canva Sans Bold"/>
                <a:sym typeface="Canva Sans Bold"/>
              </a:rPr>
              <a:t>Strictly Modular:</a:t>
            </a:r>
            <a:r>
              <a:rPr lang="en-US" sz="2600">
                <a:solidFill>
                  <a:srgbClr val="000000"/>
                </a:solidFill>
                <a:latin typeface="Canva Sans"/>
                <a:ea typeface="Canva Sans"/>
                <a:cs typeface="Canva Sans"/>
                <a:sym typeface="Canva Sans"/>
              </a:rPr>
              <a:t> The backend is clearly split into 5 distinct services: Task, Memory, Brain, Agent, and Context.</a:t>
            </a:r>
          </a:p>
          <a:p>
            <a:pPr algn="l" marL="561341" indent="-280670" lvl="1">
              <a:lnSpc>
                <a:spcPts val="3640"/>
              </a:lnSpc>
              <a:buFont typeface="Arial"/>
              <a:buChar char="•"/>
            </a:pPr>
            <a:r>
              <a:rPr lang="en-US" b="true" sz="2600">
                <a:solidFill>
                  <a:srgbClr val="000000"/>
                </a:solidFill>
                <a:latin typeface="Canva Sans Bold"/>
                <a:ea typeface="Canva Sans Bold"/>
                <a:cs typeface="Canva Sans Bold"/>
                <a:sym typeface="Canva Sans Bold"/>
              </a:rPr>
              <a:t>Central "Brain": </a:t>
            </a:r>
            <a:r>
              <a:rPr lang="en-US" sz="2600">
                <a:solidFill>
                  <a:srgbClr val="000000"/>
                </a:solidFill>
                <a:latin typeface="Canva Sans"/>
                <a:ea typeface="Canva Sans"/>
                <a:cs typeface="Canva Sans"/>
                <a:sym typeface="Canva Sans"/>
              </a:rPr>
              <a:t>Individual modules aren't allowed to make decisions. All data flows into the central Brain so the AI has the full picture.</a:t>
            </a:r>
          </a:p>
          <a:p>
            <a:pPr algn="l" marL="561341" indent="-280670" lvl="1">
              <a:lnSpc>
                <a:spcPts val="3640"/>
              </a:lnSpc>
              <a:buFont typeface="Arial"/>
              <a:buChar char="•"/>
            </a:pPr>
            <a:r>
              <a:rPr lang="en-US" b="true" sz="2600">
                <a:solidFill>
                  <a:srgbClr val="000000"/>
                </a:solidFill>
                <a:latin typeface="Canva Sans Bold"/>
                <a:ea typeface="Canva Sans Bold"/>
                <a:cs typeface="Canva Sans Bold"/>
                <a:sym typeface="Canva Sans Bold"/>
              </a:rPr>
              <a:t>Event-Driven:</a:t>
            </a:r>
            <a:r>
              <a:rPr lang="en-US" sz="2600">
                <a:solidFill>
                  <a:srgbClr val="000000"/>
                </a:solidFill>
                <a:latin typeface="Canva Sans"/>
                <a:ea typeface="Canva Sans"/>
                <a:cs typeface="Canva Sans"/>
                <a:sym typeface="Canva Sans"/>
              </a:rPr>
              <a:t> We treat everyday user actions (like switching tabs) as signals to trigger the AI's logic.</a:t>
            </a:r>
          </a:p>
          <a:p>
            <a:pPr algn="l">
              <a:lnSpc>
                <a:spcPts val="3640"/>
              </a:lnSpc>
            </a:pPr>
          </a:p>
          <a:p>
            <a:pPr algn="l">
              <a:lnSpc>
                <a:spcPts val="364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05596" y="4381524"/>
            <a:ext cx="5556080" cy="5022697"/>
            <a:chOff x="0" y="0"/>
            <a:chExt cx="6350000" cy="5740400"/>
          </a:xfrm>
        </p:grpSpPr>
        <p:sp>
          <p:nvSpPr>
            <p:cNvPr name="Freeform 3" id="3"/>
            <p:cNvSpPr/>
            <p:nvPr/>
          </p:nvSpPr>
          <p:spPr>
            <a:xfrm flipH="false" flipV="false" rot="0">
              <a:off x="0" y="0"/>
              <a:ext cx="6351270" cy="5741670"/>
            </a:xfrm>
            <a:custGeom>
              <a:avLst/>
              <a:gdLst/>
              <a:ahLst/>
              <a:cxnLst/>
              <a:rect r="r" b="b" t="t" l="l"/>
              <a:pathLst>
                <a:path h="5741670" w="6351270">
                  <a:moveTo>
                    <a:pt x="0" y="542290"/>
                  </a:moveTo>
                  <a:lnTo>
                    <a:pt x="0" y="2392680"/>
                  </a:lnTo>
                  <a:cubicBezTo>
                    <a:pt x="0" y="2691130"/>
                    <a:pt x="242570" y="2933700"/>
                    <a:pt x="542290" y="2933700"/>
                  </a:cubicBezTo>
                  <a:lnTo>
                    <a:pt x="1148080" y="2933700"/>
                  </a:lnTo>
                  <a:cubicBezTo>
                    <a:pt x="1447800" y="2933700"/>
                    <a:pt x="1690370" y="3176270"/>
                    <a:pt x="1690370" y="3475990"/>
                  </a:cubicBezTo>
                  <a:lnTo>
                    <a:pt x="1690370" y="5199380"/>
                  </a:lnTo>
                  <a:cubicBezTo>
                    <a:pt x="1690370" y="5499100"/>
                    <a:pt x="1932940" y="5741670"/>
                    <a:pt x="2232660" y="5741670"/>
                  </a:cubicBezTo>
                  <a:lnTo>
                    <a:pt x="3599180" y="5741670"/>
                  </a:lnTo>
                  <a:cubicBezTo>
                    <a:pt x="3735070" y="5741670"/>
                    <a:pt x="3867150" y="5689600"/>
                    <a:pt x="3967480" y="5598160"/>
                  </a:cubicBezTo>
                  <a:lnTo>
                    <a:pt x="6177280" y="3553460"/>
                  </a:lnTo>
                  <a:cubicBezTo>
                    <a:pt x="6287770" y="3450590"/>
                    <a:pt x="6351270" y="3307080"/>
                    <a:pt x="6351270" y="3155950"/>
                  </a:cubicBezTo>
                  <a:lnTo>
                    <a:pt x="6351270" y="542290"/>
                  </a:lnTo>
                  <a:cubicBezTo>
                    <a:pt x="6350000" y="242570"/>
                    <a:pt x="6107430" y="0"/>
                    <a:pt x="5807710" y="0"/>
                  </a:cubicBezTo>
                  <a:lnTo>
                    <a:pt x="542290" y="0"/>
                  </a:lnTo>
                  <a:cubicBezTo>
                    <a:pt x="242570" y="0"/>
                    <a:pt x="0" y="242570"/>
                    <a:pt x="0" y="542290"/>
                  </a:cubicBezTo>
                  <a:close/>
                </a:path>
              </a:pathLst>
            </a:custGeom>
            <a:blipFill>
              <a:blip r:embed="rId2"/>
              <a:stretch>
                <a:fillRect l="-11050" t="0" r="-31595" b="0"/>
              </a:stretch>
            </a:blipFill>
          </p:spPr>
        </p:sp>
      </p:grpSp>
      <p:grpSp>
        <p:nvGrpSpPr>
          <p:cNvPr name="Group 4" id="4"/>
          <p:cNvGrpSpPr/>
          <p:nvPr/>
        </p:nvGrpSpPr>
        <p:grpSpPr>
          <a:xfrm rot="0">
            <a:off x="16043675" y="6892872"/>
            <a:ext cx="260707" cy="26070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7CAAD8"/>
              </a:solidFill>
              <a:prstDash val="solid"/>
              <a:miter/>
            </a:ln>
          </p:spPr>
        </p:sp>
        <p:sp>
          <p:nvSpPr>
            <p:cNvPr name="TextBox 6" id="6"/>
            <p:cNvSpPr txBox="true"/>
            <p:nvPr/>
          </p:nvSpPr>
          <p:spPr>
            <a:xfrm>
              <a:off x="76200" y="95250"/>
              <a:ext cx="660400" cy="641350"/>
            </a:xfrm>
            <a:prstGeom prst="rect">
              <a:avLst/>
            </a:prstGeom>
          </p:spPr>
          <p:txBody>
            <a:bodyPr anchor="ctr" rtlCol="false" tIns="50800" lIns="50800" bIns="50800" rIns="50800"/>
            <a:lstStyle/>
            <a:p>
              <a:pPr algn="ctr">
                <a:lnSpc>
                  <a:spcPts val="2066"/>
                </a:lnSpc>
              </a:pPr>
            </a:p>
          </p:txBody>
        </p:sp>
      </p:grpSp>
      <p:sp>
        <p:nvSpPr>
          <p:cNvPr name="Freeform 7" id="7"/>
          <p:cNvSpPr/>
          <p:nvPr/>
        </p:nvSpPr>
        <p:spPr>
          <a:xfrm flipH="false" flipV="false" rot="0">
            <a:off x="6316727" y="8984909"/>
            <a:ext cx="268053" cy="268053"/>
          </a:xfrm>
          <a:custGeom>
            <a:avLst/>
            <a:gdLst/>
            <a:ahLst/>
            <a:cxnLst/>
            <a:rect r="r" b="b" t="t" l="l"/>
            <a:pathLst>
              <a:path h="268053" w="268053">
                <a:moveTo>
                  <a:pt x="0" y="0"/>
                </a:moveTo>
                <a:lnTo>
                  <a:pt x="268053" y="0"/>
                </a:lnTo>
                <a:lnTo>
                  <a:pt x="268053" y="268053"/>
                </a:lnTo>
                <a:lnTo>
                  <a:pt x="0" y="2680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4119363" y="1197690"/>
            <a:ext cx="9707405" cy="1566544"/>
          </a:xfrm>
          <a:prstGeom prst="rect">
            <a:avLst/>
          </a:prstGeom>
        </p:spPr>
        <p:txBody>
          <a:bodyPr anchor="t" rtlCol="false" tIns="0" lIns="0" bIns="0" rIns="0">
            <a:spAutoFit/>
          </a:bodyPr>
          <a:lstStyle/>
          <a:p>
            <a:pPr algn="ctr">
              <a:lnSpc>
                <a:spcPts val="12880"/>
              </a:lnSpc>
            </a:pPr>
            <a:r>
              <a:rPr lang="en-US" b="true" sz="9200">
                <a:solidFill>
                  <a:srgbClr val="7CAAD8"/>
                </a:solidFill>
                <a:latin typeface="Canva Sans Bold"/>
                <a:ea typeface="Canva Sans Bold"/>
                <a:cs typeface="Canva Sans Bold"/>
                <a:sym typeface="Canva Sans Bold"/>
              </a:rPr>
              <a:t>challenges</a:t>
            </a:r>
          </a:p>
        </p:txBody>
      </p:sp>
      <p:sp>
        <p:nvSpPr>
          <p:cNvPr name="TextBox 9" id="9"/>
          <p:cNvSpPr txBox="true"/>
          <p:nvPr/>
        </p:nvSpPr>
        <p:spPr>
          <a:xfrm rot="0">
            <a:off x="1028700" y="4787789"/>
            <a:ext cx="10344241" cy="5062013"/>
          </a:xfrm>
          <a:prstGeom prst="rect">
            <a:avLst/>
          </a:prstGeom>
        </p:spPr>
        <p:txBody>
          <a:bodyPr anchor="t" rtlCol="false" tIns="0" lIns="0" bIns="0" rIns="0">
            <a:spAutoFit/>
          </a:bodyPr>
          <a:lstStyle/>
          <a:p>
            <a:pPr algn="l">
              <a:lnSpc>
                <a:spcPts val="3677"/>
              </a:lnSpc>
            </a:pPr>
            <a:r>
              <a:rPr lang="en-US" sz="2626" b="true">
                <a:solidFill>
                  <a:srgbClr val="000000"/>
                </a:solidFill>
                <a:latin typeface="Canva Sans Bold"/>
                <a:ea typeface="Canva Sans Bold"/>
                <a:cs typeface="Canva Sans Bold"/>
                <a:sym typeface="Canva Sans Bold"/>
              </a:rPr>
              <a:t>Current Challenges (The Har</a:t>
            </a:r>
            <a:r>
              <a:rPr lang="en-US" b="true" sz="2626">
                <a:solidFill>
                  <a:srgbClr val="000000"/>
                </a:solidFill>
                <a:latin typeface="Canva Sans Bold"/>
                <a:ea typeface="Canva Sans Bold"/>
                <a:cs typeface="Canva Sans Bold"/>
                <a:sym typeface="Canva Sans Bold"/>
              </a:rPr>
              <a:t>d Parts)</a:t>
            </a:r>
          </a:p>
          <a:p>
            <a:pPr algn="l" marL="567138" indent="-283569" lvl="1">
              <a:lnSpc>
                <a:spcPts val="3677"/>
              </a:lnSpc>
              <a:buFont typeface="Arial"/>
              <a:buChar char="•"/>
            </a:pPr>
            <a:r>
              <a:rPr lang="en-US" b="true" sz="2626">
                <a:solidFill>
                  <a:srgbClr val="000000"/>
                </a:solidFill>
                <a:latin typeface="Canva Sans Bold"/>
                <a:ea typeface="Canva Sans Bold"/>
                <a:cs typeface="Canva Sans Bold"/>
                <a:sym typeface="Canva Sans Bold"/>
              </a:rPr>
              <a:t>Understanding Intent:</a:t>
            </a:r>
            <a:r>
              <a:rPr lang="en-US" sz="2626">
                <a:solidFill>
                  <a:srgbClr val="000000"/>
                </a:solidFill>
                <a:latin typeface="Canva Sans"/>
                <a:ea typeface="Canva Sans"/>
                <a:cs typeface="Canva Sans"/>
                <a:sym typeface="Canva Sans"/>
              </a:rPr>
              <a:t> Knowing the user opened VS Code is easy. Knowing if they are actively debugging or just reading documentation is the hard part.</a:t>
            </a:r>
          </a:p>
          <a:p>
            <a:pPr algn="l" marL="567138" indent="-283569" lvl="1">
              <a:lnSpc>
                <a:spcPts val="3677"/>
              </a:lnSpc>
              <a:buFont typeface="Arial"/>
              <a:buChar char="•"/>
            </a:pPr>
            <a:r>
              <a:rPr lang="en-US" b="true" sz="2626">
                <a:solidFill>
                  <a:srgbClr val="000000"/>
                </a:solidFill>
                <a:latin typeface="Canva Sans Bold"/>
                <a:ea typeface="Canva Sans Bold"/>
                <a:cs typeface="Canva Sans Bold"/>
                <a:sym typeface="Canva Sans Bold"/>
              </a:rPr>
              <a:t>Reducing Noise:</a:t>
            </a:r>
            <a:r>
              <a:rPr lang="en-US" sz="2626">
                <a:solidFill>
                  <a:srgbClr val="000000"/>
                </a:solidFill>
                <a:latin typeface="Canva Sans"/>
                <a:ea typeface="Canva Sans"/>
                <a:cs typeface="Canva Sans"/>
                <a:sym typeface="Canva Sans"/>
              </a:rPr>
              <a:t> The assistant needs to be genuinely helpful without becoming just another annoying pop-up notification.</a:t>
            </a:r>
          </a:p>
          <a:p>
            <a:pPr algn="l" marL="567138" indent="-283569" lvl="1">
              <a:lnSpc>
                <a:spcPts val="3677"/>
              </a:lnSpc>
              <a:buFont typeface="Arial"/>
              <a:buChar char="•"/>
            </a:pPr>
            <a:r>
              <a:rPr lang="en-US" b="true" sz="2626">
                <a:solidFill>
                  <a:srgbClr val="000000"/>
                </a:solidFill>
                <a:latin typeface="Canva Sans Bold"/>
                <a:ea typeface="Canva Sans Bold"/>
                <a:cs typeface="Canva Sans Bold"/>
                <a:sym typeface="Canva Sans Bold"/>
              </a:rPr>
              <a:t>Ensuring Privacy:</a:t>
            </a:r>
            <a:r>
              <a:rPr lang="en-US" sz="2626">
                <a:solidFill>
                  <a:srgbClr val="000000"/>
                </a:solidFill>
                <a:latin typeface="Canva Sans"/>
                <a:ea typeface="Canva Sans"/>
                <a:cs typeface="Canva Sans"/>
                <a:sym typeface="Canva Sans"/>
              </a:rPr>
              <a:t> Because we track OS activity, we are strictly building this as a local-first system to keep company data secure.</a:t>
            </a:r>
          </a:p>
          <a:p>
            <a:pPr algn="l">
              <a:lnSpc>
                <a:spcPts val="3677"/>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8217" y="1028700"/>
            <a:ext cx="236164" cy="231441"/>
            <a:chOff x="0" y="0"/>
            <a:chExt cx="635000" cy="622300"/>
          </a:xfrm>
        </p:grpSpPr>
        <p:sp>
          <p:nvSpPr>
            <p:cNvPr name="Freeform 3" id="3"/>
            <p:cNvSpPr/>
            <p:nvPr/>
          </p:nvSpPr>
          <p:spPr>
            <a:xfrm flipH="false" flipV="false" rot="0">
              <a:off x="0" y="0"/>
              <a:ext cx="635000" cy="622300"/>
            </a:xfrm>
            <a:custGeom>
              <a:avLst/>
              <a:gdLst/>
              <a:ahLst/>
              <a:cxnLst/>
              <a:rect r="r" b="b" t="t" l="l"/>
              <a:pathLst>
                <a:path h="622300" w="635000">
                  <a:moveTo>
                    <a:pt x="547370" y="62230"/>
                  </a:moveTo>
                  <a:lnTo>
                    <a:pt x="401320" y="267970"/>
                  </a:lnTo>
                  <a:lnTo>
                    <a:pt x="635000" y="346710"/>
                  </a:lnTo>
                  <a:lnTo>
                    <a:pt x="605790" y="445770"/>
                  </a:lnTo>
                  <a:lnTo>
                    <a:pt x="369570" y="367030"/>
                  </a:lnTo>
                  <a:lnTo>
                    <a:pt x="369570" y="622300"/>
                  </a:lnTo>
                  <a:lnTo>
                    <a:pt x="267970" y="622300"/>
                  </a:lnTo>
                  <a:lnTo>
                    <a:pt x="267970" y="367030"/>
                  </a:lnTo>
                  <a:lnTo>
                    <a:pt x="31750" y="445770"/>
                  </a:lnTo>
                  <a:lnTo>
                    <a:pt x="0" y="346710"/>
                  </a:lnTo>
                  <a:lnTo>
                    <a:pt x="236220" y="267970"/>
                  </a:lnTo>
                  <a:lnTo>
                    <a:pt x="90170" y="62230"/>
                  </a:lnTo>
                  <a:lnTo>
                    <a:pt x="172720" y="0"/>
                  </a:lnTo>
                  <a:lnTo>
                    <a:pt x="318770" y="205740"/>
                  </a:lnTo>
                  <a:lnTo>
                    <a:pt x="464820" y="0"/>
                  </a:lnTo>
                  <a:lnTo>
                    <a:pt x="547370" y="62230"/>
                  </a:lnTo>
                  <a:close/>
                </a:path>
              </a:pathLst>
            </a:custGeom>
            <a:solidFill>
              <a:srgbClr val="7CAAD8"/>
            </a:solidFill>
          </p:spPr>
        </p:sp>
        <p:sp>
          <p:nvSpPr>
            <p:cNvPr name="TextBox 4" id="4"/>
            <p:cNvSpPr txBox="true"/>
            <p:nvPr/>
          </p:nvSpPr>
          <p:spPr>
            <a:xfrm>
              <a:off x="146050" y="158750"/>
              <a:ext cx="342900" cy="323850"/>
            </a:xfrm>
            <a:prstGeom prst="rect">
              <a:avLst/>
            </a:prstGeom>
          </p:spPr>
          <p:txBody>
            <a:bodyPr anchor="ctr" rtlCol="false" tIns="50800" lIns="50800" bIns="50800" rIns="50800"/>
            <a:lstStyle/>
            <a:p>
              <a:pPr algn="ctr">
                <a:lnSpc>
                  <a:spcPts val="2066"/>
                </a:lnSpc>
              </a:pPr>
            </a:p>
          </p:txBody>
        </p:sp>
      </p:grpSp>
      <p:grpSp>
        <p:nvGrpSpPr>
          <p:cNvPr name="Group 5" id="5"/>
          <p:cNvGrpSpPr/>
          <p:nvPr/>
        </p:nvGrpSpPr>
        <p:grpSpPr>
          <a:xfrm rot="0">
            <a:off x="11573684" y="3882415"/>
            <a:ext cx="5825471" cy="5825476"/>
            <a:chOff x="0" y="0"/>
            <a:chExt cx="1419732" cy="1419733"/>
          </a:xfrm>
        </p:grpSpPr>
        <p:sp>
          <p:nvSpPr>
            <p:cNvPr name="Freeform 6" id="6"/>
            <p:cNvSpPr/>
            <p:nvPr/>
          </p:nvSpPr>
          <p:spPr>
            <a:xfrm flipH="false" flipV="false" rot="0">
              <a:off x="0" y="0"/>
              <a:ext cx="1419733" cy="1419746"/>
            </a:xfrm>
            <a:custGeom>
              <a:avLst/>
              <a:gdLst/>
              <a:ahLst/>
              <a:cxnLst/>
              <a:rect r="r" b="b" t="t" l="l"/>
              <a:pathLst>
                <a:path h="1419746" w="1419733">
                  <a:moveTo>
                    <a:pt x="932290" y="0"/>
                  </a:moveTo>
                  <a:lnTo>
                    <a:pt x="177673" y="0"/>
                  </a:lnTo>
                  <a:cubicBezTo>
                    <a:pt x="79547" y="0"/>
                    <a:pt x="0" y="79547"/>
                    <a:pt x="0" y="177673"/>
                  </a:cubicBezTo>
                  <a:lnTo>
                    <a:pt x="0" y="1242073"/>
                  </a:lnTo>
                  <a:cubicBezTo>
                    <a:pt x="0" y="1340199"/>
                    <a:pt x="79547" y="1419746"/>
                    <a:pt x="177673" y="1419746"/>
                  </a:cubicBezTo>
                  <a:lnTo>
                    <a:pt x="1242060" y="1419746"/>
                  </a:lnTo>
                  <a:cubicBezTo>
                    <a:pt x="1340186" y="1419746"/>
                    <a:pt x="1419733" y="1340199"/>
                    <a:pt x="1419733" y="1242073"/>
                  </a:cubicBezTo>
                  <a:lnTo>
                    <a:pt x="1419733" y="523958"/>
                  </a:lnTo>
                  <a:cubicBezTo>
                    <a:pt x="1419733" y="480251"/>
                    <a:pt x="1403623" y="438079"/>
                    <a:pt x="1374484" y="405503"/>
                  </a:cubicBezTo>
                  <a:lnTo>
                    <a:pt x="1064707" y="59214"/>
                  </a:lnTo>
                  <a:cubicBezTo>
                    <a:pt x="1031003" y="21536"/>
                    <a:pt x="982844" y="0"/>
                    <a:pt x="932290" y="0"/>
                  </a:cubicBezTo>
                  <a:close/>
                </a:path>
              </a:pathLst>
            </a:custGeom>
            <a:blipFill>
              <a:blip r:embed="rId2"/>
              <a:stretch>
                <a:fillRect l="-43095" t="0" r="-6999" b="0"/>
              </a:stretch>
            </a:blipFill>
          </p:spPr>
        </p:sp>
      </p:grpSp>
      <p:sp>
        <p:nvSpPr>
          <p:cNvPr name="TextBox 7" id="7"/>
          <p:cNvSpPr txBox="true"/>
          <p:nvPr/>
        </p:nvSpPr>
        <p:spPr>
          <a:xfrm rot="0">
            <a:off x="16186299" y="1047750"/>
            <a:ext cx="1073001" cy="189230"/>
          </a:xfrm>
          <a:prstGeom prst="rect">
            <a:avLst/>
          </a:prstGeom>
        </p:spPr>
        <p:txBody>
          <a:bodyPr anchor="t" rtlCol="false" tIns="0" lIns="0" bIns="0" rIns="0">
            <a:spAutoFit/>
          </a:bodyPr>
          <a:lstStyle/>
          <a:p>
            <a:pPr algn="r">
              <a:lnSpc>
                <a:spcPts val="1540"/>
              </a:lnSpc>
              <a:spcBef>
                <a:spcPct val="0"/>
              </a:spcBef>
            </a:pPr>
            <a:r>
              <a:rPr lang="en-US" b="true" sz="1400" spc="-42">
                <a:solidFill>
                  <a:srgbClr val="282C32"/>
                </a:solidFill>
                <a:latin typeface="Space Mono Bold"/>
                <a:ea typeface="Space Mono Bold"/>
                <a:cs typeface="Space Mono Bold"/>
                <a:sym typeface="Space Mono Bold"/>
              </a:rPr>
              <a:t>C</a:t>
            </a:r>
            <a:r>
              <a:rPr lang="en-US" b="true" sz="1400" spc="-42">
                <a:solidFill>
                  <a:srgbClr val="282C32"/>
                </a:solidFill>
                <a:latin typeface="Space Mono Bold"/>
                <a:ea typeface="Space Mono Bold"/>
                <a:cs typeface="Space Mono Bold"/>
                <a:sym typeface="Space Mono Bold"/>
              </a:rPr>
              <a:t>LOUDLET</a:t>
            </a:r>
          </a:p>
        </p:txBody>
      </p:sp>
      <p:sp>
        <p:nvSpPr>
          <p:cNvPr name="TextBox 8" id="8"/>
          <p:cNvSpPr txBox="true"/>
          <p:nvPr/>
        </p:nvSpPr>
        <p:spPr>
          <a:xfrm rot="0">
            <a:off x="3881607" y="1098216"/>
            <a:ext cx="9592419" cy="1434459"/>
          </a:xfrm>
          <a:prstGeom prst="rect">
            <a:avLst/>
          </a:prstGeom>
        </p:spPr>
        <p:txBody>
          <a:bodyPr anchor="t" rtlCol="false" tIns="0" lIns="0" bIns="0" rIns="0">
            <a:spAutoFit/>
          </a:bodyPr>
          <a:lstStyle/>
          <a:p>
            <a:pPr algn="ctr">
              <a:lnSpc>
                <a:spcPts val="11760"/>
              </a:lnSpc>
            </a:pPr>
            <a:r>
              <a:rPr lang="en-US" b="true" sz="8400">
                <a:solidFill>
                  <a:srgbClr val="7CAAD8"/>
                </a:solidFill>
                <a:latin typeface="Canva Sans Bold"/>
                <a:ea typeface="Canva Sans Bold"/>
                <a:cs typeface="Canva Sans Bold"/>
                <a:sym typeface="Canva Sans Bold"/>
              </a:rPr>
              <a:t>System</a:t>
            </a:r>
            <a:r>
              <a:rPr lang="en-US" b="true" sz="8400">
                <a:solidFill>
                  <a:srgbClr val="7CAAD8"/>
                </a:solidFill>
                <a:latin typeface="Canva Sans Bold"/>
                <a:ea typeface="Canva Sans Bold"/>
                <a:cs typeface="Canva Sans Bold"/>
                <a:sym typeface="Canva Sans Bold"/>
              </a:rPr>
              <a:t> Scalability</a:t>
            </a:r>
          </a:p>
        </p:txBody>
      </p:sp>
      <p:sp>
        <p:nvSpPr>
          <p:cNvPr name="TextBox 9" id="9"/>
          <p:cNvSpPr txBox="true"/>
          <p:nvPr/>
        </p:nvSpPr>
        <p:spPr>
          <a:xfrm rot="0">
            <a:off x="186473" y="3698623"/>
            <a:ext cx="10704744" cy="6621145"/>
          </a:xfrm>
          <a:prstGeom prst="rect">
            <a:avLst/>
          </a:prstGeom>
        </p:spPr>
        <p:txBody>
          <a:bodyPr anchor="t" rtlCol="false" tIns="0" lIns="0" bIns="0" rIns="0">
            <a:spAutoFit/>
          </a:bodyPr>
          <a:lstStyle/>
          <a:p>
            <a:pPr algn="l" marL="474979" indent="-237490" lvl="1">
              <a:lnSpc>
                <a:spcPts val="3079"/>
              </a:lnSpc>
              <a:buFont typeface="Arial"/>
              <a:buChar char="•"/>
            </a:pPr>
            <a:r>
              <a:rPr lang="en-US" b="true" sz="2199">
                <a:solidFill>
                  <a:srgbClr val="282C32"/>
                </a:solidFill>
                <a:latin typeface="Canva Sans Bold"/>
                <a:ea typeface="Canva Sans Bold"/>
                <a:cs typeface="Canva Sans Bold"/>
                <a:sym typeface="Canva Sans Bold"/>
              </a:rPr>
              <a:t>Asynchronous Telemetry Ingestion: </a:t>
            </a:r>
            <a:r>
              <a:rPr lang="en-US" sz="2199">
                <a:solidFill>
                  <a:srgbClr val="282C32"/>
                </a:solidFill>
                <a:latin typeface="Canva Sans"/>
                <a:ea typeface="Canva Sans"/>
                <a:cs typeface="Canva Sans"/>
                <a:sym typeface="Canva Sans"/>
              </a:rPr>
              <a:t>The background daemon generates massive amounts of noisy OS data. Instead of blocking the FastAPI server, we route incoming telemetry through message queues (e.g., Redis/Celery). FastAPI instantly returns a 200 OK, while background workers process the data, ensuring zero latency for the user.</a:t>
            </a:r>
          </a:p>
          <a:p>
            <a:pPr algn="l" marL="474979" indent="-237490" lvl="1">
              <a:lnSpc>
                <a:spcPts val="3079"/>
              </a:lnSpc>
              <a:buFont typeface="Arial"/>
              <a:buChar char="•"/>
            </a:pPr>
            <a:r>
              <a:rPr lang="en-US" b="true" sz="2199">
                <a:solidFill>
                  <a:srgbClr val="282C32"/>
                </a:solidFill>
                <a:latin typeface="Canva Sans Bold"/>
                <a:ea typeface="Canva Sans Bold"/>
                <a:cs typeface="Canva Sans Bold"/>
                <a:sym typeface="Canva Sans Bold"/>
              </a:rPr>
              <a:t>Database &amp; Vector Scaling:</a:t>
            </a:r>
            <a:r>
              <a:rPr lang="en-US" sz="2199">
                <a:solidFill>
                  <a:srgbClr val="282C32"/>
                </a:solidFill>
                <a:latin typeface="Canva Sans"/>
                <a:ea typeface="Canva Sans"/>
                <a:cs typeface="Canva Sans"/>
                <a:sym typeface="Canva Sans"/>
              </a:rPr>
              <a:t> As user memories and tasks grow, basic queries fail. We scale PostgreSQL using connection pooling (PgBouncer) and table partitioning for historical telemetry. For the pgvector extension, we implement HNSW (Hierarchical Navigable Small World) indexing to guarantee semantic searches execute in under 50ms, even with millions of memory embeddings.</a:t>
            </a:r>
          </a:p>
          <a:p>
            <a:pPr algn="l" marL="474979" indent="-237490" lvl="1">
              <a:lnSpc>
                <a:spcPts val="3079"/>
              </a:lnSpc>
              <a:buFont typeface="Arial"/>
              <a:buChar char="•"/>
            </a:pPr>
            <a:r>
              <a:rPr lang="en-US" b="true" sz="2199">
                <a:solidFill>
                  <a:srgbClr val="282C32"/>
                </a:solidFill>
                <a:latin typeface="Canva Sans Bold"/>
                <a:ea typeface="Canva Sans Bold"/>
                <a:cs typeface="Canva Sans Bold"/>
                <a:sym typeface="Canva Sans Bold"/>
              </a:rPr>
              <a:t>High-Concurrency LLM Serving:</a:t>
            </a:r>
            <a:r>
              <a:rPr lang="en-US" sz="2199">
                <a:solidFill>
                  <a:srgbClr val="282C32"/>
                </a:solidFill>
                <a:latin typeface="Canva Sans"/>
                <a:ea typeface="Canva Sans"/>
                <a:cs typeface="Canva Sans"/>
                <a:sym typeface="Canva Sans"/>
              </a:rPr>
              <a:t> Running local models per user is hardware-impossible at scale. The Llama model sits on a centralized internal VPC. We scale inference using frameworks like vLLM with continuous batching, allowing a single internal GPU cluster to serve dozens of concurrent agent requests efficiently without bottlenecking.</a:t>
            </a:r>
          </a:p>
          <a:p>
            <a:pPr algn="l">
              <a:lnSpc>
                <a:spcPts val="3079"/>
              </a:lnSpc>
            </a:pP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40202" y="876300"/>
            <a:ext cx="15758964" cy="1368417"/>
          </a:xfrm>
          <a:prstGeom prst="rect">
            <a:avLst/>
          </a:prstGeom>
        </p:spPr>
        <p:txBody>
          <a:bodyPr anchor="t" rtlCol="false" tIns="0" lIns="0" bIns="0" rIns="0">
            <a:spAutoFit/>
          </a:bodyPr>
          <a:lstStyle/>
          <a:p>
            <a:pPr algn="ctr">
              <a:lnSpc>
                <a:spcPts val="11200"/>
              </a:lnSpc>
            </a:pPr>
            <a:r>
              <a:rPr lang="en-US" sz="8000" b="true">
                <a:solidFill>
                  <a:srgbClr val="7CAAD8"/>
                </a:solidFill>
                <a:latin typeface="Canva Sans Bold"/>
                <a:ea typeface="Canva Sans Bold"/>
                <a:cs typeface="Canva Sans Bold"/>
                <a:sym typeface="Canva Sans Bold"/>
              </a:rPr>
              <a:t>Enterprise</a:t>
            </a:r>
            <a:r>
              <a:rPr lang="en-US" b="true" sz="8000">
                <a:solidFill>
                  <a:srgbClr val="7CAAD8"/>
                </a:solidFill>
                <a:latin typeface="Canva Sans Bold"/>
                <a:ea typeface="Canva Sans Bold"/>
                <a:cs typeface="Canva Sans Bold"/>
                <a:sym typeface="Canva Sans Bold"/>
              </a:rPr>
              <a:t> Security &amp; Readiness</a:t>
            </a:r>
          </a:p>
        </p:txBody>
      </p:sp>
      <p:sp>
        <p:nvSpPr>
          <p:cNvPr name="TextBox 3" id="3"/>
          <p:cNvSpPr txBox="true"/>
          <p:nvPr/>
        </p:nvSpPr>
        <p:spPr>
          <a:xfrm rot="0">
            <a:off x="1028700" y="3496610"/>
            <a:ext cx="12274230" cy="4168139"/>
          </a:xfrm>
          <a:prstGeom prst="rect">
            <a:avLst/>
          </a:prstGeom>
        </p:spPr>
        <p:txBody>
          <a:bodyPr anchor="t" rtlCol="false" tIns="0" lIns="0" bIns="0" rIns="0">
            <a:spAutoFit/>
          </a:bodyPr>
          <a:lstStyle/>
          <a:p>
            <a:pPr algn="l" marL="518165" indent="-259082" lvl="1">
              <a:lnSpc>
                <a:spcPts val="3360"/>
              </a:lnSpc>
              <a:buFont typeface="Arial"/>
              <a:buChar char="•"/>
            </a:pPr>
            <a:r>
              <a:rPr lang="en-US" b="true" sz="2400">
                <a:solidFill>
                  <a:srgbClr val="000000"/>
                </a:solidFill>
                <a:latin typeface="Canva Sans Bold"/>
                <a:ea typeface="Canva Sans Bold"/>
                <a:cs typeface="Canva Sans Bold"/>
                <a:sym typeface="Canva Sans Bold"/>
              </a:rPr>
              <a:t>Role-Based </a:t>
            </a:r>
            <a:r>
              <a:rPr lang="en-US" b="true" sz="2400">
                <a:solidFill>
                  <a:srgbClr val="000000"/>
                </a:solidFill>
                <a:latin typeface="Canva Sans Bold"/>
                <a:ea typeface="Canva Sans Bold"/>
                <a:cs typeface="Canva Sans Bold"/>
                <a:sym typeface="Canva Sans Bold"/>
              </a:rPr>
              <a:t>Access (RBAC): </a:t>
            </a:r>
            <a:r>
              <a:rPr lang="en-US" sz="2400">
                <a:solidFill>
                  <a:srgbClr val="000000"/>
                </a:solidFill>
                <a:latin typeface="Canva Sans"/>
                <a:ea typeface="Canva Sans"/>
                <a:cs typeface="Canva Sans"/>
                <a:sym typeface="Canva Sans"/>
              </a:rPr>
              <a:t>The AI dynamically respects corporate hierarchy, ensuring it only retrieves and summarizes files that the user is already explicitly authorized to view.</a:t>
            </a:r>
          </a:p>
          <a:p>
            <a:pPr algn="l" marL="518165" indent="-259082" lvl="1">
              <a:lnSpc>
                <a:spcPts val="3360"/>
              </a:lnSpc>
              <a:buFont typeface="Arial"/>
              <a:buChar char="•"/>
            </a:pPr>
            <a:r>
              <a:rPr lang="en-US" b="true" sz="2400">
                <a:solidFill>
                  <a:srgbClr val="000000"/>
                </a:solidFill>
                <a:latin typeface="Canva Sans Bold"/>
                <a:ea typeface="Canva Sans Bold"/>
                <a:cs typeface="Canva Sans Bold"/>
                <a:sym typeface="Canva Sans Bold"/>
              </a:rPr>
              <a:t>Strict Data Isolation:</a:t>
            </a:r>
            <a:r>
              <a:rPr lang="en-US" sz="2400">
                <a:solidFill>
                  <a:srgbClr val="000000"/>
                </a:solidFill>
                <a:latin typeface="Canva Sans"/>
                <a:ea typeface="Canva Sans"/>
                <a:cs typeface="Canva Sans"/>
                <a:sym typeface="Canva Sans"/>
              </a:rPr>
              <a:t> Enterprise data is securely walled off in isolated database vaults, guaranteeing that private meeting notes and calendars never cross over between different teams or clients.</a:t>
            </a:r>
          </a:p>
          <a:p>
            <a:pPr algn="l" marL="518165" indent="-259082" lvl="1">
              <a:lnSpc>
                <a:spcPts val="3360"/>
              </a:lnSpc>
              <a:buFont typeface="Arial"/>
              <a:buChar char="•"/>
            </a:pPr>
            <a:r>
              <a:rPr lang="en-US" b="true" sz="2400">
                <a:solidFill>
                  <a:srgbClr val="000000"/>
                </a:solidFill>
                <a:latin typeface="Canva Sans Bold"/>
                <a:ea typeface="Canva Sans Bold"/>
                <a:cs typeface="Canva Sans Bold"/>
                <a:sym typeface="Canva Sans Bold"/>
              </a:rPr>
              <a:t>Immutable Audit Logs: </a:t>
            </a:r>
            <a:r>
              <a:rPr lang="en-US" sz="2400">
                <a:solidFill>
                  <a:srgbClr val="000000"/>
                </a:solidFill>
                <a:latin typeface="Canva Sans"/>
                <a:ea typeface="Canva Sans"/>
                <a:cs typeface="Canva Sans"/>
                <a:sym typeface="Canva Sans"/>
              </a:rPr>
              <a:t>Every automated action the assistant takes—like drafting an email or logging a task—is permanently recorded, giving IT a fully transparent history of the AI's decisions.</a:t>
            </a:r>
          </a:p>
          <a:p>
            <a:pPr algn="l">
              <a:lnSpc>
                <a:spcPts val="336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272103" y="3766138"/>
            <a:ext cx="5847970" cy="4317199"/>
          </a:xfrm>
          <a:custGeom>
            <a:avLst/>
            <a:gdLst/>
            <a:ahLst/>
            <a:cxnLst/>
            <a:rect r="r" b="b" t="t" l="l"/>
            <a:pathLst>
              <a:path h="4317199" w="5847970">
                <a:moveTo>
                  <a:pt x="0" y="0"/>
                </a:moveTo>
                <a:lnTo>
                  <a:pt x="5847971" y="0"/>
                </a:lnTo>
                <a:lnTo>
                  <a:pt x="5847971" y="4317199"/>
                </a:lnTo>
                <a:lnTo>
                  <a:pt x="0" y="4317199"/>
                </a:lnTo>
                <a:lnTo>
                  <a:pt x="0" y="0"/>
                </a:lnTo>
                <a:close/>
              </a:path>
            </a:pathLst>
          </a:custGeom>
          <a:blipFill>
            <a:blip r:embed="rId2"/>
            <a:stretch>
              <a:fillRect l="-13434" t="0" r="-21711" b="0"/>
            </a:stretch>
          </a:blipFill>
        </p:spPr>
      </p:sp>
      <p:sp>
        <p:nvSpPr>
          <p:cNvPr name="TextBox 3" id="3"/>
          <p:cNvSpPr txBox="true"/>
          <p:nvPr/>
        </p:nvSpPr>
        <p:spPr>
          <a:xfrm rot="0">
            <a:off x="5898386" y="857250"/>
            <a:ext cx="6242596" cy="1566544"/>
          </a:xfrm>
          <a:prstGeom prst="rect">
            <a:avLst/>
          </a:prstGeom>
        </p:spPr>
        <p:txBody>
          <a:bodyPr anchor="t" rtlCol="false" tIns="0" lIns="0" bIns="0" rIns="0">
            <a:spAutoFit/>
          </a:bodyPr>
          <a:lstStyle/>
          <a:p>
            <a:pPr algn="ctr">
              <a:lnSpc>
                <a:spcPts val="12880"/>
              </a:lnSpc>
            </a:pPr>
            <a:r>
              <a:rPr lang="en-US" sz="9200" b="true">
                <a:solidFill>
                  <a:srgbClr val="7CAAD8"/>
                </a:solidFill>
                <a:latin typeface="Canva Sans Bold"/>
                <a:ea typeface="Canva Sans Bold"/>
                <a:cs typeface="Canva Sans Bold"/>
                <a:sym typeface="Canva Sans Bold"/>
              </a:rPr>
              <a:t>conclusion</a:t>
            </a:r>
          </a:p>
        </p:txBody>
      </p:sp>
      <p:sp>
        <p:nvSpPr>
          <p:cNvPr name="TextBox 4" id="4"/>
          <p:cNvSpPr txBox="true"/>
          <p:nvPr/>
        </p:nvSpPr>
        <p:spPr>
          <a:xfrm rot="0">
            <a:off x="1785390" y="3541402"/>
            <a:ext cx="10082688" cy="4709522"/>
          </a:xfrm>
          <a:prstGeom prst="rect">
            <a:avLst/>
          </a:prstGeom>
        </p:spPr>
        <p:txBody>
          <a:bodyPr anchor="t" rtlCol="false" tIns="0" lIns="0" bIns="0" rIns="0">
            <a:spAutoFit/>
          </a:bodyPr>
          <a:lstStyle/>
          <a:p>
            <a:pPr algn="l">
              <a:lnSpc>
                <a:spcPts val="3758"/>
              </a:lnSpc>
            </a:pPr>
            <a:r>
              <a:rPr lang="en-US" sz="2684">
                <a:solidFill>
                  <a:srgbClr val="000000"/>
                </a:solidFill>
                <a:latin typeface="Canva Sans"/>
                <a:ea typeface="Canva Sans"/>
                <a:cs typeface="Canva Sans"/>
                <a:sym typeface="Canva Sans"/>
              </a:rPr>
              <a:t>Caretaker </a:t>
            </a:r>
            <a:r>
              <a:rPr lang="en-US" sz="2684">
                <a:solidFill>
                  <a:srgbClr val="000000"/>
                </a:solidFill>
                <a:latin typeface="Canva Sans"/>
                <a:ea typeface="Canva Sans"/>
                <a:cs typeface="Canva Sans"/>
                <a:sym typeface="Canva Sans"/>
              </a:rPr>
              <a:t>AI Agent is an effort to build a context-aware workplace assistant that reduces cognitive load, improves productivity, and helps users stay focused without requiring additional effort from them.</a:t>
            </a:r>
          </a:p>
          <a:p>
            <a:pPr algn="l">
              <a:lnSpc>
                <a:spcPts val="3758"/>
              </a:lnSpc>
            </a:pPr>
            <a:r>
              <a:rPr lang="en-US" sz="2684">
                <a:solidFill>
                  <a:srgbClr val="000000"/>
                </a:solidFill>
                <a:latin typeface="Canva Sans"/>
                <a:ea typeface="Canva Sans"/>
                <a:cs typeface="Canva Sans"/>
                <a:sym typeface="Canva Sans"/>
              </a:rPr>
              <a:t>The current implementation has established the core foundation through task management, memory management, context collection, and agent architecture. The next phase will focus on intelligent reasoning, meeting integrations, commitment tracking, and proactive assistance.</a:t>
            </a:r>
          </a:p>
          <a:p>
            <a:pPr algn="l">
              <a:lnSpc>
                <a:spcPts val="3758"/>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DAHL81YCW98</dc:identifier>
  <dcterms:modified xsi:type="dcterms:W3CDTF">2011-08-01T06:04:30Z</dcterms:modified>
  <cp:revision>1</cp:revision>
  <dc:title>White and Blue Futuristic Agentic AI Presentation</dc:title>
</cp:coreProperties>
</file>